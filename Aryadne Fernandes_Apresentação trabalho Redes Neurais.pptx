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>
                <a:solidFill>
                  <a:srgbClr val="F8FAFC"/>
                </a:solidFill>
              </a:defRPr>
            </a:pPr>
            <a:r>
              <a:rPr lang="pt-BR"/>
              <a:t>R² — capacidade de explicar a variação da demanda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Linear</c:v>
                </c:pt>
              </c:strCache>
            </c:strRef>
          </c:tx>
          <c:spPr>
            <a:solidFill>
              <a:srgbClr val="94A3B8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Vergalhão</c:v>
                </c:pt>
                <c:pt idx="1">
                  <c:v>Tela</c:v>
                </c:pt>
                <c:pt idx="2">
                  <c:v>Treliça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</c:v>
                </c:pt>
                <c:pt idx="1">
                  <c:v>0.79</c:v>
                </c:pt>
                <c:pt idx="2">
                  <c:v>0.78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E23-4894-99C9-14142892CFF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Rede Neural</c:v>
                </c:pt>
              </c:strCache>
            </c:strRef>
          </c:tx>
          <c:spPr>
            <a:solidFill>
              <a:srgbClr val="34D399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Vergalhão</c:v>
                </c:pt>
                <c:pt idx="1">
                  <c:v>Tela</c:v>
                </c:pt>
                <c:pt idx="2">
                  <c:v>Treliça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0.84</c:v>
                </c:pt>
                <c:pt idx="1">
                  <c:v>0.97</c:v>
                </c:pt>
                <c:pt idx="2">
                  <c:v>0.79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4E23-4894-99C9-14142892CF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F8FAFC"/>
                </a:solidFill>
              </a:defRPr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94A3B8"/>
                </a:solidFill>
              </a:defRPr>
            </a:pPr>
            <a:endParaRPr lang="pt-BR"/>
          </a:p>
        </c:txPr>
        <c:crossAx val="-2068027336"/>
        <c:crosses val="autoZero"/>
        <c:crossBetween val="between"/>
        <c:majorUnit val="0.2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Aptos"/>
              </a:defRPr>
            </a:pPr>
            <a:r>
              <a:t>INTELIGÊNCIA ARTIFICIAL &amp;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6949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Precificação Dinâmica</a:t>
            </a:r>
            <a:br/>
            <a:r>
              <a:t>com Redes Neurais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7" y="2907792"/>
            <a:ext cx="89772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94A3B8"/>
                </a:solidFill>
                <a:latin typeface="Aptos"/>
              </a:defRPr>
            </a:pPr>
            <a:r>
              <a:rPr lang="pt-BR" b="1" dirty="0"/>
              <a:t>Objetivo: </a:t>
            </a:r>
            <a:r>
              <a:rPr lang="pt-BR" dirty="0"/>
              <a:t>u</a:t>
            </a:r>
            <a:r>
              <a:rPr dirty="0" err="1"/>
              <a:t>sar</a:t>
            </a:r>
            <a:r>
              <a:rPr dirty="0"/>
              <a:t> </a:t>
            </a:r>
            <a:r>
              <a:rPr dirty="0" err="1"/>
              <a:t>previsão</a:t>
            </a:r>
            <a:r>
              <a:rPr dirty="0"/>
              <a:t> de </a:t>
            </a:r>
            <a:r>
              <a:rPr dirty="0" err="1"/>
              <a:t>demanda</a:t>
            </a:r>
            <a:r>
              <a:rPr dirty="0"/>
              <a:t> e </a:t>
            </a:r>
            <a:r>
              <a:rPr dirty="0" err="1"/>
              <a:t>simulação</a:t>
            </a:r>
            <a:r>
              <a:rPr dirty="0"/>
              <a:t> de </a:t>
            </a:r>
            <a:r>
              <a:rPr dirty="0" err="1"/>
              <a:t>preços</a:t>
            </a:r>
            <a:r>
              <a:rPr dirty="0"/>
              <a:t> para </a:t>
            </a:r>
            <a:r>
              <a:rPr dirty="0" err="1"/>
              <a:t>apoiar</a:t>
            </a:r>
            <a:r>
              <a:rPr dirty="0"/>
              <a:t> </a:t>
            </a:r>
            <a:r>
              <a:rPr dirty="0" err="1"/>
              <a:t>decisões</a:t>
            </a:r>
            <a:r>
              <a:rPr dirty="0"/>
              <a:t> </a:t>
            </a:r>
            <a:r>
              <a:rPr dirty="0" err="1"/>
              <a:t>comerciais</a:t>
            </a:r>
            <a:r>
              <a:rPr dirty="0"/>
              <a:t> e </a:t>
            </a:r>
            <a:r>
              <a:rPr dirty="0" err="1"/>
              <a:t>maximizar</a:t>
            </a:r>
            <a:r>
              <a:rPr dirty="0"/>
              <a:t> </a:t>
            </a:r>
            <a:r>
              <a:rPr dirty="0" err="1"/>
              <a:t>receita</a:t>
            </a:r>
            <a:r>
              <a:rPr dirty="0"/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069080"/>
            <a:ext cx="324612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4069080"/>
            <a:ext cx="73152" cy="1325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31596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4D399"/>
                </a:solidFill>
                <a:latin typeface="Aptos"/>
              </a:defRPr>
            </a:pPr>
            <a:r>
              <a:t>3.288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ptos"/>
              </a:defRPr>
            </a:pPr>
            <a:r>
              <a:t>observações históricas • 2023–2025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4069080"/>
            <a:ext cx="324612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60520" y="4069080"/>
            <a:ext cx="73152" cy="132588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431596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60A5F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48006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ptos"/>
              </a:defRPr>
            </a:pPr>
            <a:r>
              <a:t>produtos: Vergalhão, Tela e Treliça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4069080"/>
            <a:ext cx="324612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680960" y="4069080"/>
            <a:ext cx="73152" cy="132588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79" y="431596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818CF8"/>
                </a:solidFill>
                <a:latin typeface="Aptos"/>
              </a:defRPr>
            </a:pPr>
            <a:r>
              <a:t>R² até 0,97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4800600"/>
            <a:ext cx="2651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ptos"/>
              </a:defRPr>
            </a:pPr>
            <a:r>
              <a:rPr dirty="0" err="1"/>
              <a:t>melhor</a:t>
            </a:r>
            <a:r>
              <a:rPr dirty="0"/>
              <a:t> </a:t>
            </a:r>
            <a:r>
              <a:rPr dirty="0" err="1"/>
              <a:t>desempenho</a:t>
            </a:r>
            <a:r>
              <a:rPr dirty="0"/>
              <a:t>: Tela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ptos"/>
              </a:defRPr>
            </a:pPr>
            <a:r>
              <a:t>MBA em IA &amp; Analytics para Business • Precificação Dinâmica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Aptos"/>
              </a:defRPr>
            </a:pPr>
            <a:r>
              <a:t>O QUE OS DADOS CAPTURAM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200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Aptos"/>
              </a:defRPr>
            </a:pPr>
            <a:r>
              <a:t>2/5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4980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ptos"/>
              </a:defRPr>
            </a:pPr>
            <a:r>
              <a:t>A demanda não depende apenas do preço.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Aptos"/>
              </a:defRPr>
            </a:pPr>
            <a:r>
              <a:t>O modelo combina contexto temporal, mercado, histórico recente e disponibilidade para estimar a demanda.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352044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73152" cy="2057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44144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0A5FA"/>
                </a:solidFill>
                <a:latin typeface="Aptos"/>
              </a:defRPr>
            </a:pPr>
            <a:r>
              <a:t>TEMPO &amp; SAZONALIDADE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• Ano: 2023–2025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0098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• Mês: sazonalidade anual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3016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• Período do mês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5935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• Dia da semana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240280"/>
            <a:ext cx="352044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43400" y="2240280"/>
            <a:ext cx="73152" cy="2057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17720" y="244144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Aptos"/>
              </a:defRPr>
            </a:pPr>
            <a:r>
              <a:t>PREÇO &amp; CONCORRÊNCIA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97180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• Preço praticado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30098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• Preço do concorrente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63016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• Cenário competitivo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95935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• Resposta não linear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240280"/>
            <a:ext cx="352044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2240280"/>
            <a:ext cx="73152" cy="2057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0" y="244144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Aptos"/>
              </a:defRPr>
            </a:pPr>
            <a:r>
              <a:t>DEMANDA &amp; OPERAÇÃO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97180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• Histórico de 7 e 30 dias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30098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• Estoque disponível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63016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• Padrões recentes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95935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• Restrição operacional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4800600"/>
            <a:ext cx="987552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143000" y="4800600"/>
            <a:ext cx="73152" cy="9601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417320" y="5029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18CF8"/>
                </a:solidFill>
                <a:latin typeface="Aptos"/>
              </a:defRPr>
            </a:pPr>
            <a:r>
              <a:t>Insight para decisão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60" y="4956048"/>
            <a:ext cx="7223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O mesmo preço pode gerar resultados diferentes dependendo do momento do mês, sazonalidade, concorrência, vendas recentes e estoque.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ptos"/>
              </a:defRPr>
            </a:pPr>
            <a:r>
              <a:t>MBA em IA &amp; Analytics para Business • Precificação Dinâmica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Aptos"/>
              </a:defRPr>
            </a:pPr>
            <a:r>
              <a:t>REDE NEURAL MELHORA A PREVISÃO DE DEMANDA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200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Aptos"/>
              </a:defRPr>
            </a:pPr>
            <a:r>
              <a:t>3/5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4980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ptos"/>
              </a:defRPr>
            </a:pPr>
            <a:r>
              <a:t>Desempenho no conjunto de teste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283548"/>
              </p:ext>
            </p:extLst>
          </p:nvPr>
        </p:nvGraphicFramePr>
        <p:xfrm>
          <a:off x="640079" y="1691640"/>
          <a:ext cx="5943601" cy="36374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720840" y="1691640"/>
            <a:ext cx="4800600" cy="1234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720840" y="1691640"/>
            <a:ext cx="73152" cy="12344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95159" y="1892808"/>
            <a:ext cx="4343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Aptos"/>
              </a:defRPr>
            </a:pPr>
            <a:r>
              <a:t>DESTAQUE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240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4D399"/>
                </a:solidFill>
                <a:latin typeface="Aptos"/>
              </a:defRPr>
            </a:pPr>
            <a:r>
              <a:t>Tela de Aço: R² de 0,97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3154680"/>
            <a:ext cx="4800600" cy="1234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720840" y="3154680"/>
            <a:ext cx="73152" cy="123444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95159" y="3355848"/>
            <a:ext cx="4343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0A5FA"/>
                </a:solidFill>
                <a:latin typeface="Aptos"/>
              </a:defRPr>
            </a:pPr>
            <a:r>
              <a:t>GANHO DE PRECISÃO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3703320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Aptos"/>
              </a:defRPr>
            </a:pPr>
            <a:r>
              <a:t>MAE da Tela: 18,95 → 6,37 unidades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4617720"/>
            <a:ext cx="480060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720840" y="4617720"/>
            <a:ext cx="73152" cy="86868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0" y="482803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ptos"/>
              </a:defRPr>
            </a:pPr>
            <a:r>
              <a:t>Leitura executiva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79145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8FAFC"/>
                </a:solidFill>
                <a:latin typeface="Aptos"/>
              </a:defRPr>
            </a:pPr>
            <a:r>
              <a:t>A rede neural captura relações mais complexas que o modelo linear.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ptos"/>
              </a:defRPr>
            </a:pPr>
            <a:r>
              <a:t>MBA em IA &amp; Analytics para Business • Precificação Dinâmica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Aptos"/>
              </a:defRPr>
            </a:pPr>
            <a:r>
              <a:t>SIMULAÇÃO DE PREÇOS E RECEITA ESPERADA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200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Aptos"/>
              </a:defRPr>
            </a:pPr>
            <a:r>
              <a:t>4/5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4980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ptos"/>
              </a:defRPr>
            </a:pPr>
            <a:r>
              <a:t>O modelo testa cenários e recomenda o preço com maior receita prevista.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ptos"/>
              </a:defRPr>
            </a:pPr>
            <a:r>
              <a:t>Cenário apresentado na base: Julho / Início do Mês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224028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73152" cy="5943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1" y="2221992"/>
            <a:ext cx="2093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8FAFC"/>
                </a:solidFill>
                <a:latin typeface="Aptos"/>
              </a:defRPr>
            </a:pPr>
            <a:r>
              <a:t>Produto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35224" y="2057400"/>
            <a:ext cx="150876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935224" y="2057400"/>
            <a:ext cx="73152" cy="5943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08376" y="2221992"/>
            <a:ext cx="1362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8FAFC"/>
                </a:solidFill>
                <a:latin typeface="Aptos"/>
              </a:defRPr>
            </a:pPr>
            <a:r>
              <a:t>Preço Linear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98848" y="2057400"/>
            <a:ext cx="173736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98848" y="2057400"/>
            <a:ext cx="73152" cy="5943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2221992"/>
            <a:ext cx="1591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8FAFC"/>
                </a:solidFill>
                <a:latin typeface="Aptos"/>
              </a:defRPr>
            </a:pPr>
            <a:r>
              <a:t>Preço Rede Neural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2057400"/>
            <a:ext cx="173736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91072" y="2057400"/>
            <a:ext cx="73152" cy="5943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64224" y="2221992"/>
            <a:ext cx="1591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8FAFC"/>
                </a:solidFill>
                <a:latin typeface="Aptos"/>
              </a:defRPr>
            </a:pPr>
            <a:r>
              <a:t>Receita Linear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2057400"/>
            <a:ext cx="196596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83296" y="2057400"/>
            <a:ext cx="73152" cy="5943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56448" y="2221992"/>
            <a:ext cx="1819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8FAFC"/>
                </a:solidFill>
                <a:latin typeface="Aptos"/>
              </a:defRPr>
            </a:pPr>
            <a:r>
              <a:t>Receita Rede Neural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04120" y="2057400"/>
            <a:ext cx="100584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104120" y="2057400"/>
            <a:ext cx="73152" cy="5943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177272" y="2221992"/>
            <a:ext cx="859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8FAFC"/>
                </a:solidFill>
                <a:latin typeface="Aptos"/>
              </a:defRPr>
            </a:pPr>
            <a:r>
              <a:t>Ganho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2770632"/>
            <a:ext cx="224028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4944" y="2926080"/>
            <a:ext cx="2130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Vergalhão de Aço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35224" y="2770632"/>
            <a:ext cx="150876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90088" y="2926080"/>
            <a:ext cx="13990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8FAFC"/>
                </a:solidFill>
                <a:latin typeface="Aptos"/>
              </a:defRPr>
            </a:pPr>
            <a:r>
              <a:t>R$ 48,00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98848" y="2770632"/>
            <a:ext cx="173736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498848" y="2770632"/>
            <a:ext cx="73152" cy="5943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53712" y="2926080"/>
            <a:ext cx="1627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D399"/>
                </a:solidFill>
                <a:latin typeface="Aptos"/>
              </a:defRPr>
            </a:pPr>
            <a:r>
              <a:t>R$ 48,00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91072" y="2770632"/>
            <a:ext cx="173736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45936" y="2926080"/>
            <a:ext cx="1627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8FAFC"/>
                </a:solidFill>
                <a:latin typeface="Aptos"/>
              </a:defRPr>
            </a:pPr>
            <a:r>
              <a:t>R$ 31.718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83296" y="2770632"/>
            <a:ext cx="196596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083296" y="2770632"/>
            <a:ext cx="73152" cy="5943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38160" y="2926080"/>
            <a:ext cx="18562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D399"/>
                </a:solidFill>
                <a:latin typeface="Aptos"/>
              </a:defRPr>
            </a:pPr>
            <a:r>
              <a:t>R$ 38.643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04120" y="2770632"/>
            <a:ext cx="100584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0104120" y="2770632"/>
            <a:ext cx="73152" cy="5943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158984" y="2926080"/>
            <a:ext cx="896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D399"/>
                </a:solidFill>
                <a:latin typeface="Aptos"/>
              </a:defRPr>
            </a:pPr>
            <a:r>
              <a:t>+21,8%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3483864"/>
            <a:ext cx="224028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94944" y="3639312"/>
            <a:ext cx="21305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rPr dirty="0"/>
              <a:t>Tela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35224" y="3483864"/>
            <a:ext cx="150876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990088" y="3639312"/>
            <a:ext cx="13990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8FAFC"/>
                </a:solidFill>
                <a:latin typeface="Aptos"/>
              </a:defRPr>
            </a:pPr>
            <a:r>
              <a:t>R$ 120,00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98848" y="3483864"/>
            <a:ext cx="173736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498848" y="3483864"/>
            <a:ext cx="73152" cy="5943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53712" y="3639312"/>
            <a:ext cx="1627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D399"/>
                </a:solidFill>
                <a:latin typeface="Aptos"/>
              </a:defRPr>
            </a:pPr>
            <a:r>
              <a:t>R$ 143,10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91072" y="3483864"/>
            <a:ext cx="173736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45936" y="3639312"/>
            <a:ext cx="1627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8FAFC"/>
                </a:solidFill>
                <a:latin typeface="Aptos"/>
              </a:defRPr>
            </a:pPr>
            <a:r>
              <a:t>R$ 31.584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83296" y="3483864"/>
            <a:ext cx="196596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083296" y="3483864"/>
            <a:ext cx="73152" cy="5943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138160" y="3639312"/>
            <a:ext cx="18562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D399"/>
                </a:solidFill>
                <a:latin typeface="Aptos"/>
              </a:defRPr>
            </a:pPr>
            <a:r>
              <a:t>R$ 114.446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104120" y="3483864"/>
            <a:ext cx="100584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0104120" y="3483864"/>
            <a:ext cx="73152" cy="5943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158984" y="3639312"/>
            <a:ext cx="896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D399"/>
                </a:solidFill>
                <a:latin typeface="Aptos"/>
              </a:defRPr>
            </a:pPr>
            <a:r>
              <a:t>+262,4%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" y="4197096"/>
            <a:ext cx="224028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94944" y="4352544"/>
            <a:ext cx="2130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Treliça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935224" y="4197096"/>
            <a:ext cx="150876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990088" y="4352544"/>
            <a:ext cx="13990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8FAFC"/>
                </a:solidFill>
                <a:latin typeface="Aptos"/>
              </a:defRPr>
            </a:pPr>
            <a:r>
              <a:t>R$ 40,75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498848" y="4197096"/>
            <a:ext cx="173736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4498848" y="4197096"/>
            <a:ext cx="73152" cy="5943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553712" y="4352544"/>
            <a:ext cx="1627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D399"/>
                </a:solidFill>
                <a:latin typeface="Aptos"/>
              </a:defRPr>
            </a:pPr>
            <a:r>
              <a:t>R$ 35,00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91072" y="4197096"/>
            <a:ext cx="173736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345936" y="4352544"/>
            <a:ext cx="1627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8FAFC"/>
                </a:solidFill>
                <a:latin typeface="Aptos"/>
              </a:defRPr>
            </a:pPr>
            <a:r>
              <a:t>R$ 12.037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083296" y="4197096"/>
            <a:ext cx="196596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8083296" y="4197096"/>
            <a:ext cx="73152" cy="5943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138160" y="4352544"/>
            <a:ext cx="18562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D399"/>
                </a:solidFill>
                <a:latin typeface="Aptos"/>
              </a:defRPr>
            </a:pPr>
            <a:r>
              <a:t>R$ 13.957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104120" y="4197096"/>
            <a:ext cx="100584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10104120" y="4197096"/>
            <a:ext cx="73152" cy="5943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158984" y="4352544"/>
            <a:ext cx="896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D399"/>
                </a:solidFill>
                <a:latin typeface="Aptos"/>
              </a:defRPr>
            </a:pPr>
            <a:r>
              <a:t>+15,9%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68680" y="5257800"/>
            <a:ext cx="10561320" cy="65836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68680" y="5257800"/>
            <a:ext cx="73152" cy="65836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143000" y="546811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ptos"/>
              </a:defRPr>
            </a:pPr>
            <a:r>
              <a:t>Mensagem-chave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697480" y="5413248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8FAFC"/>
                </a:solidFill>
                <a:latin typeface="Aptos"/>
              </a:defRPr>
            </a:pPr>
            <a:r>
              <a:t>O preço recomendado não é necessariamente o menor nem o maior: é o ponto em que preço × demanda prevista maximiza a receita.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292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ptos"/>
              </a:defRPr>
            </a:pPr>
            <a:r>
              <a:t>MBA em IA &amp; Analytics para Business • Precificação Dinâmica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Aptos"/>
              </a:defRPr>
            </a:pPr>
            <a:r>
              <a:t>CONCLUSÃO E 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200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Aptos"/>
              </a:defRPr>
            </a:pPr>
            <a:r>
              <a:t>5/5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49808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ptos"/>
              </a:defRPr>
            </a:pPr>
            <a:r>
              <a:t>De preço fixo para decisão orientada por dados.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Aptos"/>
              </a:defRPr>
            </a:pPr>
            <a:r>
              <a:t>A principal contribuição do modelo é transformar sinais dispersos de mercado em uma recomendação de preço contextual.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5303520" cy="2514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73152" cy="25146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441448"/>
            <a:ext cx="4846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Aptos"/>
              </a:defRPr>
            </a:pPr>
            <a:r>
              <a:rPr dirty="0"/>
              <a:t>CONCLUSÃO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8FAFC"/>
                </a:solidFill>
                <a:latin typeface="Aptos"/>
              </a:defRPr>
            </a:pPr>
            <a:r>
              <a:t>• A Rede Neural superou o modelo linear nos três produtos.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4617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8FAFC"/>
                </a:solidFill>
                <a:latin typeface="Aptos"/>
              </a:defRPr>
            </a:pPr>
            <a:r>
              <a:rPr dirty="0"/>
              <a:t>• O </a:t>
            </a:r>
            <a:r>
              <a:rPr dirty="0" err="1"/>
              <a:t>maior</a:t>
            </a:r>
            <a:r>
              <a:rPr dirty="0"/>
              <a:t> </a:t>
            </a:r>
            <a:r>
              <a:rPr dirty="0" err="1"/>
              <a:t>destaque</a:t>
            </a:r>
            <a:r>
              <a:rPr dirty="0"/>
              <a:t> </a:t>
            </a:r>
            <a:r>
              <a:rPr dirty="0" err="1"/>
              <a:t>foi</a:t>
            </a:r>
            <a:r>
              <a:rPr dirty="0"/>
              <a:t> a Tela, com R² de 0,97.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12464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8FAFC"/>
                </a:solidFill>
                <a:latin typeface="Aptos"/>
              </a:defRPr>
            </a:pPr>
            <a:r>
              <a:t>• A simulação permite estimar a resposta da demanda a diferentes preços.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51376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8FAFC"/>
                </a:solidFill>
                <a:latin typeface="Aptos"/>
              </a:defRPr>
            </a:pPr>
            <a:r>
              <a:t>• A decisão passa a buscar receita esperada máxima, não apenas margem unitária ou preço fixo.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240280"/>
            <a:ext cx="5303520" cy="2514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2240280"/>
            <a:ext cx="73152" cy="25146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244144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18CF8"/>
                </a:solidFill>
                <a:latin typeface="Aptos"/>
              </a:defRPr>
            </a:pPr>
            <a:r>
              <a:t>PRÓXIMOS PASSOS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7889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18CF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7889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Aptos"/>
              </a:defRPr>
            </a:pPr>
            <a:r>
              <a:t>Alimentação diária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78892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ptos"/>
              </a:defRPr>
            </a:pPr>
            <a:r>
              <a:t>Atualizar preços dos concorrentes e sinais de demanda.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35584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18CF8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3558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Aptos"/>
              </a:defRPr>
            </a:pPr>
            <a:r>
              <a:t>Otimizar lucro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5584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ptos"/>
              </a:defRPr>
            </a:pPr>
            <a:r>
              <a:t>Incluir custos para maximizar margem, além da receita.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92277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18CF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92277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Aptos"/>
              </a:defRPr>
            </a:pPr>
            <a:r>
              <a:t>Escalar o modelo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922776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Aptos"/>
              </a:defRPr>
            </a:pPr>
            <a:r>
              <a:t>Adicionar regiões, filiais e regras comerciais.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5257800"/>
            <a:ext cx="9875520" cy="65836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143000" y="5257800"/>
            <a:ext cx="73152" cy="65836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417320" y="546811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Aptos"/>
              </a:defRPr>
            </a:pPr>
            <a:r>
              <a:t>Decisão recomendada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80" y="5413248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8FAFC"/>
                </a:solidFill>
                <a:latin typeface="Aptos"/>
              </a:defRPr>
            </a:pPr>
            <a:r>
              <a:t>Iniciar um piloto controlado de precificação dinâmica, monitorando receita, volume e margem versus a política tradicional.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ptos"/>
              </a:defRPr>
            </a:pPr>
            <a:r>
              <a:t>MBA em IA &amp; Analytics para Business • Precificação Dinâmica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533</Words>
  <Application>Microsoft Office PowerPoint</Application>
  <PresentationFormat>Widescreen</PresentationFormat>
  <Paragraphs>96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Aryadne Meira Fernandes</cp:lastModifiedBy>
  <cp:revision>2</cp:revision>
  <dcterms:created xsi:type="dcterms:W3CDTF">2013-01-27T09:14:16Z</dcterms:created>
  <dcterms:modified xsi:type="dcterms:W3CDTF">2026-08-25T23:41:09Z</dcterms:modified>
  <cp:category/>
</cp:coreProperties>
</file>