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O Desafio Comercial &amp; Por que Usar IA no Setor de Aço?</a:t>
            </a:r>
          </a:p>
          <a:p>
            <a:pPr>
              <a:defRPr sz="1300">
                <a:solidFill>
                  <a:srgbClr val="1E40AF"/>
                </a:solidFill>
              </a:defRPr>
            </a:pPr>
            <a:r>
              <a:t>MBA em IA para Negócios — FGV | Aluna: Aryadne Meira Fernandes (Gerdau)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🏗️ O Problema de Negócio</a:t>
            </a:r>
            <a:br/>
            <a:endParaRPr/>
          </a:p>
          <a:p>
            <a:pPr>
              <a:defRPr sz="1150">
                <a:solidFill>
                  <a:srgbClr val="475569"/>
                </a:solidFill>
              </a:defRPr>
            </a:pPr>
            <a:r>
              <a:t>• Produtos estruturais (Vergalhão, Tela e Treliça) operam com margens comprimidas e compradores B2B sensíveis a preço.</a:t>
            </a:r>
            <a:br/>
            <a:br/>
            <a:r>
              <a:t>• Flutuações de concorrentes e sazonalidade climática/mensal das obras tornam a precificação estática ineficiente.</a:t>
            </a:r>
            <a:br/>
            <a:br/>
            <a:r>
              <a:t>• Objetivo: Maximizar receita e margem através de preços dinâmicos diários.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❌ Automação Simples Falha</a:t>
            </a:r>
            <a:br/>
            <a:endParaRPr/>
          </a:p>
          <a:p>
            <a:pPr>
              <a:defRPr sz="1150">
                <a:solidFill>
                  <a:srgbClr val="475569"/>
                </a:solidFill>
              </a:defRPr>
            </a:pPr>
            <a:r>
              <a:t>• Teste da Regra Heurística ('Se-Então'):</a:t>
            </a:r>
            <a:br/>
            <a:r>
              <a:t>  'Desconto de 5% se estoque alto; aumento de 4% se estoque baixo'.</a:t>
            </a:r>
            <a:br/>
            <a:br/>
            <a:r>
              <a:t>• Resultado: Perda de -3,2% no faturamento total.</a:t>
            </a:r>
            <a:br/>
            <a:br/>
            <a:r>
              <a:t>• Motivo da Falha: Regras fixas dão desconto desnecessário quando a demanda está aquecida no início do mês e perdem cotações críticas.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t>🧠 A Solução com Rede Neural</a:t>
            </a:r>
            <a:br/>
            <a:endParaRPr/>
          </a:p>
          <a:p>
            <a:pPr>
              <a:defRPr sz="1150">
                <a:solidFill>
                  <a:srgbClr val="475569"/>
                </a:solidFill>
              </a:defRPr>
            </a:pPr>
            <a:r>
              <a:t>• Modelo: MLPRegressor com 14 variáveis (concorrente, estoque, sazonalidade cíclica, tendência).</a:t>
            </a:r>
            <a:br/>
            <a:br/>
            <a:r>
              <a:t>• A IA aprende a elasticidade não-linear real da curva de demanda.</a:t>
            </a:r>
            <a:br/>
            <a:br/>
            <a:r>
              <a:t>• Resultado: Ganho de +44,9% no faturamento (+R$ 3,37M a mais do que a regra simples de automação).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Resultados Técnicos &amp; Maximização de Receita</a:t>
            </a:r>
          </a:p>
          <a:p>
            <a:pPr>
              <a:defRPr sz="1300">
                <a:solidFill>
                  <a:srgbClr val="1E40AF"/>
                </a:solidFill>
              </a:defRPr>
            </a:pPr>
            <a:r>
              <a:t>Validação com TimeSeriesSplit e 3 Sementes Aleatórias (Seeds: 42, 7, 123) em 3 Anos de Histórico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Acurácia R² (IA)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Erro MAPE (IA)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Histórica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com 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Ganho Financeiro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Tela de Aço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0.99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6.9% ± 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R$ 3.120.254,83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R$ 4.485.685,00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+43,8% (+R$ 1,37M)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Treliça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0.98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6.6% ± 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R$ 1.369.523,04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R$ 1.701.480,00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+24,2% (+R$ 332k)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Vergalhão de Aço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0.99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7.2% ± 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R$ 2.526.350,98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R$ 3.977.920,00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+57,5% (+R$ 1,45M)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TOTAL DO PORTFÓLIO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0.99 (Médio)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6.9% (Médio)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R$ 7.016.128,85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R$ 10.165.085,00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rPr dirty="0"/>
                        <a:t>+44,9% (+R$ 3,15M)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Destaques da Validação Robusta:</a:t>
            </a:r>
            <a:br/>
            <a:endParaRPr/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Robustez Estatística: Múltiplas sementes comprovaram desvio padrão mínimo (±0,001 em R²), descartando ganho por sorte.</a:t>
            </a:r>
            <a:br/>
            <a:r>
              <a:t>• Inteligência de Demanda: A IA identificou que dar desconto cirúrgico de 3% a 7% contra o concorrente no início do mês captura todo o volume de cotações das construtoras sem destruir a margem unitária.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Viabilidade Econômica (ROI) &amp; Operação (MLOps)</a:t>
            </a:r>
          </a:p>
          <a:p>
            <a:pPr>
              <a:defRPr sz="1300">
                <a:solidFill>
                  <a:srgbClr val="1E40AF"/>
                </a:solidFill>
              </a:defRPr>
            </a:pPr>
            <a:r>
              <a:t>Demonstrativo Financeiro do Projeto e Governança de Produção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💰 Análise de Retorno &amp; Custos (ROI)</a:t>
            </a:r>
            <a:br/>
            <a:endParaRPr/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Custo de Construção (Setup): R$ 45.000,00</a:t>
            </a:r>
            <a:br/>
            <a:r>
              <a:t>  (2 meses de Squad de IA + Infraestrutura inicial)</a:t>
            </a:r>
            <a:br/>
            <a:br/>
            <a:r>
              <a:t>• Custo de Sustentação Anual (Run): R$ 54.000,00/ano</a:t>
            </a:r>
            <a:br/>
            <a:r>
              <a:t>  (R$ 4.500/mês em servidores, retreinos e governança)</a:t>
            </a:r>
            <a:br/>
            <a:br/>
            <a:r>
              <a:t>• Custo Total Ano 1: R$ 99.000,00</a:t>
            </a:r>
            <a:br/>
            <a:br/>
            <a:r>
              <a:t>• Margem Incremental (25% s/ Faturamento): R$ 1.259.582,57/ano</a:t>
            </a:r>
            <a:br/>
            <a:br/>
            <a:r>
              <a:t>• Lucro Líquido do Projeto Ano 1: R$ 1.160.582,57</a:t>
            </a:r>
            <a:br/>
            <a:br/>
            <a:r>
              <a:t>• ROI Ano 1: +1.172,3% | Payback: 0,4 meses (12 dias) ⏱️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⚙️ Governança de MLOps &amp; Produção</a:t>
            </a:r>
            <a:br/>
            <a:endParaRPr/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Deploy em Lote (Batch Scoring):</a:t>
            </a:r>
            <a:br/>
            <a:r>
              <a:t>  Execução diária às 06h00 com carga direta no ERP (SAP/Totvs) para atualização da tabela dos vendedores B2B.</a:t>
            </a:r>
            <a:br/>
            <a:br/>
            <a:r>
              <a:t>• Cadência de Retreinamento:</a:t>
            </a:r>
            <a:br/>
            <a:r>
              <a:t>  Retreino quinzenal automatizado com janela móvel de 180 dias.</a:t>
            </a:r>
            <a:br/>
            <a:br/>
            <a:r>
              <a:t>• Monitoramento de Drift &amp; Alertas:</a:t>
            </a:r>
            <a:br/>
            <a:r>
              <a:t>  Monitoramento de PSI &gt; 0.15 nos preços concorrentes e MAPE &gt; 12% nas vendas.</a:t>
            </a:r>
            <a:br/>
            <a:br/>
            <a:r>
              <a:t>• Política de Rollback de Segurança:</a:t>
            </a:r>
            <a:br/>
            <a:r>
              <a:t>  Se o erro MAPE &gt; 18% por 3 dias seguidos, o sistema chaveia automaticamente para a Regressão Linear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6F85-1A1E-F202-69C5-652413C4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B2AF7-7B59-45C4-8A59-608671A36D0F}"/>
              </a:ext>
            </a:extLst>
          </p:cNvPr>
          <p:cNvSpPr txBox="1"/>
          <p:nvPr/>
        </p:nvSpPr>
        <p:spPr>
          <a:xfrm>
            <a:off x="731520" y="457200"/>
            <a:ext cx="1069848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dirty="0"/>
              <a:t>4</a:t>
            </a:r>
            <a:r>
              <a:rPr dirty="0"/>
              <a:t>. </a:t>
            </a:r>
            <a:r>
              <a:rPr lang="pt-BR" dirty="0"/>
              <a:t>Próximos passos</a:t>
            </a:r>
            <a:endParaRPr dirty="0"/>
          </a:p>
          <a:p>
            <a:pPr>
              <a:defRPr sz="1300">
                <a:solidFill>
                  <a:srgbClr val="1E40AF"/>
                </a:solidFill>
              </a:defRPr>
            </a:pPr>
            <a:r>
              <a:rPr lang="pt-BR" dirty="0"/>
              <a:t>Viabilidade e usabilidade para o negócio no dia a dia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237A4-3051-EB65-E414-0C6B68F3C59F}"/>
              </a:ext>
            </a:extLst>
          </p:cNvPr>
          <p:cNvSpPr/>
          <p:nvPr/>
        </p:nvSpPr>
        <p:spPr>
          <a:xfrm>
            <a:off x="731519" y="1645920"/>
            <a:ext cx="101555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/>
              <a:t>Conclusão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A Rede Neural superou o modelo linear nos três produtos.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O maior destaque foi a Tela, co+57,5% (+R$ 1,45M)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A simulação permite estimar a resposta da demanda a diferentes preços.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Iniciar um piloto controlado de precificação dinâmica, monitorando receita, volume e margem versus a política tradicional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/>
              <a:t>Próximos Passos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600" b="1" dirty="0"/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Otimizar o lucro monitorando os custos e margens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r>
              <a:rPr lang="pt-BR" dirty="0"/>
              <a:t>Usar a mesma solução de Redes Neurais para calcular a elasticidade de preço e assim ter elasticidade dinâmica e não estática como no Modelo de regressão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Wingdings" panose="05000000000000000000" pitchFamily="2" charset="2"/>
              <a:buChar char="§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292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811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Aryadne Meira Fernandes</cp:lastModifiedBy>
  <cp:revision>2</cp:revision>
  <dcterms:created xsi:type="dcterms:W3CDTF">2013-01-27T09:14:16Z</dcterms:created>
  <dcterms:modified xsi:type="dcterms:W3CDTF">2026-09-02T23:36:09Z</dcterms:modified>
  <cp:category/>
</cp:coreProperties>
</file>