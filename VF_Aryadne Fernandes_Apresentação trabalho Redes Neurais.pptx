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>
                <a:solidFill>
                  <a:srgbClr val="F8FAFC"/>
                </a:solidFill>
              </a:defRPr>
            </a:pPr>
            <a:r>
              <a:rPr lang="pt-BR"/>
              <a:t>R² — capacidade de explicar a variação da demanda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Vergalhão</c:v>
                </c:pt>
                <c:pt idx="1">
                  <c:v>Tela</c:v>
                </c:pt>
                <c:pt idx="2">
                  <c:v>Treliça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0.79</c:v>
                </c:pt>
                <c:pt idx="2">
                  <c:v>0.78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E23-4894-99C9-14142892CF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Rede Neural</c:v>
                </c:pt>
              </c:strCache>
            </c:strRef>
          </c:tx>
          <c:spPr>
            <a:solidFill>
              <a:srgbClr val="34D399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Vergalhão</c:v>
                </c:pt>
                <c:pt idx="1">
                  <c:v>Tela</c:v>
                </c:pt>
                <c:pt idx="2">
                  <c:v>Treliça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0.84</c:v>
                </c:pt>
                <c:pt idx="1">
                  <c:v>0.97</c:v>
                </c:pt>
                <c:pt idx="2">
                  <c:v>0.79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E23-4894-99C9-14142892CF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  <a:endParaRPr lang="pt-BR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ptos"/>
              </a:defRPr>
            </a:pPr>
            <a:r>
              <a:t>INTELIGÊNCIA ARTIFICIAL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6949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rPr dirty="0" err="1"/>
              <a:t>Precificação</a:t>
            </a:r>
            <a:r>
              <a:rPr dirty="0"/>
              <a:t> </a:t>
            </a:r>
            <a:r>
              <a:rPr dirty="0" err="1"/>
              <a:t>Dinâmica</a:t>
            </a:r>
            <a:br>
              <a:rPr dirty="0"/>
            </a:br>
            <a:r>
              <a:rPr dirty="0"/>
              <a:t>com Redes </a:t>
            </a:r>
            <a:r>
              <a:rPr dirty="0" err="1"/>
              <a:t>Neurais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7" y="2907792"/>
            <a:ext cx="8977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rPr lang="pt-BR" b="1" dirty="0"/>
              <a:t>Objetivo: </a:t>
            </a:r>
            <a:r>
              <a:rPr lang="pt-BR" dirty="0"/>
              <a:t>u</a:t>
            </a:r>
            <a:r>
              <a:rPr dirty="0" err="1"/>
              <a:t>sar</a:t>
            </a:r>
            <a:r>
              <a:rPr dirty="0"/>
              <a:t> </a:t>
            </a:r>
            <a:r>
              <a:rPr dirty="0" err="1"/>
              <a:t>previsão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 e </a:t>
            </a:r>
            <a:r>
              <a:rPr dirty="0" err="1"/>
              <a:t>simulação</a:t>
            </a:r>
            <a:r>
              <a:rPr dirty="0"/>
              <a:t> de </a:t>
            </a:r>
            <a:r>
              <a:rPr dirty="0" err="1"/>
              <a:t>preços</a:t>
            </a:r>
            <a:r>
              <a:rPr dirty="0"/>
              <a:t> para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 e </a:t>
            </a:r>
            <a:r>
              <a:rPr dirty="0" err="1"/>
              <a:t>maximizar</a:t>
            </a:r>
            <a:r>
              <a:rPr dirty="0"/>
              <a:t> </a:t>
            </a:r>
            <a:r>
              <a:rPr dirty="0" err="1"/>
              <a:t>receita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32461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4069080"/>
            <a:ext cx="73152" cy="1325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  <a:latin typeface="Aptos"/>
              </a:defRPr>
            </a:pPr>
            <a:r>
              <a:rPr dirty="0"/>
              <a:t>3.288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observações históricas • 2023–2025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069080"/>
            <a:ext cx="32461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4069080"/>
            <a:ext cx="73152" cy="13258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4315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0A5F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produtos: Vergalhão, Tela e Treliça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069080"/>
            <a:ext cx="32461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0" y="4069080"/>
            <a:ext cx="73152" cy="13258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4315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18CF8"/>
                </a:solidFill>
                <a:latin typeface="Aptos"/>
              </a:defRPr>
            </a:pPr>
            <a:r>
              <a:t>R² até 0,97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800600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desempenho</a:t>
            </a:r>
            <a:r>
              <a:rPr dirty="0"/>
              <a:t>: Tela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O QUE OS DADOS CAPTURAM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664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rPr lang="pt-BR" dirty="0"/>
              <a:t>Precificação Dinâmica com Redes Neurais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temporal, mercado, histórico </a:t>
            </a:r>
            <a:r>
              <a:rPr dirty="0" err="1"/>
              <a:t>recente</a:t>
            </a:r>
            <a:r>
              <a:rPr dirty="0"/>
              <a:t> e </a:t>
            </a:r>
            <a:r>
              <a:rPr dirty="0" err="1"/>
              <a:t>disponibilidade</a:t>
            </a:r>
            <a:r>
              <a:rPr dirty="0"/>
              <a:t> para </a:t>
            </a:r>
            <a:r>
              <a:rPr dirty="0" err="1"/>
              <a:t>estimar</a:t>
            </a:r>
            <a:r>
              <a:rPr dirty="0"/>
              <a:t> a </a:t>
            </a:r>
            <a:r>
              <a:rPr dirty="0" err="1"/>
              <a:t>demanda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204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3152" cy="2057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Aptos"/>
              </a:defRPr>
            </a:pPr>
            <a:r>
              <a:t>TEMPO &amp; SAZONALIDADE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Ano: 2023–2025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Mês: sazonalidade 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Período do 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93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Dia da semana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240280"/>
            <a:ext cx="35204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240280"/>
            <a:ext cx="73152" cy="2057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44144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ptos"/>
              </a:defRPr>
            </a:pPr>
            <a:r>
              <a:t>PREÇO &amp; CONCORRÊNCIA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Preço praticado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Preço do concorrente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Cenário competitivo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9593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Resposta não linear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40280"/>
            <a:ext cx="35204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240280"/>
            <a:ext cx="73152" cy="2057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44144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ptos"/>
              </a:defRPr>
            </a:pPr>
            <a:r>
              <a:t>DEMANDA &amp; OPERAÇÃO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Histórico de 7 e 30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Estoque disponível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Padrões recentes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593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Restrição operacional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800600"/>
            <a:ext cx="98755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4800600"/>
            <a:ext cx="73152" cy="9601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Aptos"/>
              </a:defRPr>
            </a:pPr>
            <a:r>
              <a:t>Insight para decisão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956048"/>
            <a:ext cx="7223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preço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dependendo</a:t>
            </a:r>
            <a:r>
              <a:rPr dirty="0"/>
              <a:t> do </a:t>
            </a:r>
            <a:r>
              <a:rPr dirty="0" err="1"/>
              <a:t>momento</a:t>
            </a:r>
            <a:r>
              <a:rPr dirty="0"/>
              <a:t> do </a:t>
            </a:r>
            <a:r>
              <a:rPr dirty="0" err="1"/>
              <a:t>mês</a:t>
            </a:r>
            <a:r>
              <a:rPr dirty="0"/>
              <a:t>, </a:t>
            </a:r>
            <a:r>
              <a:rPr dirty="0" err="1"/>
              <a:t>sazonalidade</a:t>
            </a:r>
            <a:r>
              <a:rPr dirty="0"/>
              <a:t>, </a:t>
            </a:r>
            <a:r>
              <a:rPr dirty="0" err="1"/>
              <a:t>concorrência</a:t>
            </a:r>
            <a:r>
              <a:rPr dirty="0"/>
              <a:t>, </a:t>
            </a:r>
            <a:r>
              <a:rPr dirty="0" err="1"/>
              <a:t>vendas</a:t>
            </a:r>
            <a:r>
              <a:rPr dirty="0"/>
              <a:t> </a:t>
            </a:r>
            <a:r>
              <a:rPr dirty="0" err="1"/>
              <a:t>recentes</a:t>
            </a:r>
            <a:r>
              <a:rPr dirty="0"/>
              <a:t> e estoque.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  <p:sp>
        <p:nvSpPr>
          <p:cNvPr id="34" name="TextBox 30">
            <a:extLst>
              <a:ext uri="{FF2B5EF4-FFF2-40B4-BE49-F238E27FC236}">
                <a16:creationId xmlns:a16="http://schemas.microsoft.com/office/drawing/2014/main" id="{AB815FD9-A147-799A-CB85-0BCF8B96E657}"/>
              </a:ext>
            </a:extLst>
          </p:cNvPr>
          <p:cNvSpPr txBox="1"/>
          <p:nvPr/>
        </p:nvSpPr>
        <p:spPr>
          <a:xfrm>
            <a:off x="640080" y="5989320"/>
            <a:ext cx="7223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rPr lang="pt-BR" dirty="0"/>
              <a:t>Base analisada: 3.288 agrupamentos de vendas de 3 produtos vendidos – tela, treliça e vergalhão 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REDE NEURAL MELHORA A PREVISÃO DE DEMANDA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"/>
              </a:defRPr>
            </a:pPr>
            <a:r>
              <a:t>Desempenho no conjunto de teste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869197"/>
              </p:ext>
            </p:extLst>
          </p:nvPr>
        </p:nvGraphicFramePr>
        <p:xfrm>
          <a:off x="640079" y="1691640"/>
          <a:ext cx="4384205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" y="4427565"/>
            <a:ext cx="4196752" cy="1675417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" name="Rectangle 7"/>
          <p:cNvSpPr/>
          <p:nvPr/>
        </p:nvSpPr>
        <p:spPr>
          <a:xfrm>
            <a:off x="817358" y="4427565"/>
            <a:ext cx="114202" cy="1675417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" name="TextBox 8"/>
          <p:cNvSpPr txBox="1"/>
          <p:nvPr/>
        </p:nvSpPr>
        <p:spPr>
          <a:xfrm>
            <a:off x="1098703" y="4653879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ptos"/>
              </a:defRPr>
            </a:pPr>
            <a:r>
              <a:rPr sz="1050" dirty="0"/>
              <a:t>DESTAQUE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1" y="4981367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Aptos"/>
              </a:defRPr>
            </a:pPr>
            <a:r>
              <a:rPr sz="1100" dirty="0">
                <a:solidFill>
                  <a:schemeClr val="bg1"/>
                </a:solidFill>
              </a:rPr>
              <a:t>Tela de </a:t>
            </a:r>
            <a:r>
              <a:rPr sz="1100" dirty="0" err="1">
                <a:solidFill>
                  <a:schemeClr val="bg1"/>
                </a:solidFill>
              </a:rPr>
              <a:t>Aço</a:t>
            </a:r>
            <a:r>
              <a:rPr sz="1100" dirty="0">
                <a:solidFill>
                  <a:schemeClr val="bg1"/>
                </a:solidFill>
              </a:rPr>
              <a:t>: R² de 0,97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146" y="5349240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Aptos"/>
              </a:defRPr>
            </a:pPr>
            <a:r>
              <a:rPr sz="1050" dirty="0"/>
              <a:t>GANHO DE PRECISÃO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146" y="5666994"/>
            <a:ext cx="4160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ptos"/>
              </a:defRPr>
            </a:pPr>
            <a:r>
              <a:rPr sz="1050" dirty="0"/>
              <a:t>MAE da Tela: 18,95 → 6,37 </a:t>
            </a:r>
            <a:r>
              <a:rPr sz="1050" dirty="0" err="1"/>
              <a:t>unidades</a:t>
            </a:r>
            <a:endParaRPr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DD699D4-DBBC-9EBB-B392-5589BBFFA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1" y="2183269"/>
            <a:ext cx="6670311" cy="1897117"/>
          </a:xfrm>
          <a:prstGeom prst="rect">
            <a:avLst/>
          </a:prstGeom>
        </p:spPr>
      </p:pic>
      <p:sp>
        <p:nvSpPr>
          <p:cNvPr id="23" name="TextBox 4">
            <a:extLst>
              <a:ext uri="{FF2B5EF4-FFF2-40B4-BE49-F238E27FC236}">
                <a16:creationId xmlns:a16="http://schemas.microsoft.com/office/drawing/2014/main" id="{8204D3D5-1687-FE1A-0545-292E486CEEF6}"/>
              </a:ext>
            </a:extLst>
          </p:cNvPr>
          <p:cNvSpPr txBox="1"/>
          <p:nvPr/>
        </p:nvSpPr>
        <p:spPr>
          <a:xfrm>
            <a:off x="5445251" y="1771319"/>
            <a:ext cx="652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  <a:defRPr sz="2200" b="1">
                <a:solidFill>
                  <a:srgbClr val="F8FAFC"/>
                </a:solidFill>
                <a:latin typeface="Aptos"/>
              </a:defRPr>
            </a:pPr>
            <a:r>
              <a:rPr sz="1200" dirty="0"/>
              <a:t>O </a:t>
            </a:r>
            <a:r>
              <a:rPr sz="1200" dirty="0" err="1"/>
              <a:t>modelo</a:t>
            </a:r>
            <a:r>
              <a:rPr sz="1200" dirty="0"/>
              <a:t> </a:t>
            </a:r>
            <a:r>
              <a:rPr sz="1200" dirty="0" err="1"/>
              <a:t>testa</a:t>
            </a:r>
            <a:r>
              <a:rPr sz="1200" dirty="0"/>
              <a:t> </a:t>
            </a:r>
            <a:r>
              <a:rPr sz="1200" dirty="0" err="1"/>
              <a:t>cenários</a:t>
            </a:r>
            <a:r>
              <a:rPr sz="1200" dirty="0"/>
              <a:t> e </a:t>
            </a:r>
            <a:r>
              <a:rPr sz="1200" dirty="0" err="1"/>
              <a:t>recomenda</a:t>
            </a:r>
            <a:r>
              <a:rPr sz="1200" dirty="0"/>
              <a:t> o </a:t>
            </a:r>
            <a:r>
              <a:rPr sz="1200" dirty="0" err="1"/>
              <a:t>preço</a:t>
            </a:r>
            <a:r>
              <a:rPr sz="1200" dirty="0"/>
              <a:t> com </a:t>
            </a:r>
            <a:r>
              <a:rPr sz="1200" dirty="0" err="1"/>
              <a:t>maior</a:t>
            </a:r>
            <a:r>
              <a:rPr sz="1200" dirty="0"/>
              <a:t> </a:t>
            </a:r>
            <a:r>
              <a:rPr sz="1200" dirty="0" err="1"/>
              <a:t>receita</a:t>
            </a:r>
            <a:r>
              <a:rPr sz="1200" dirty="0"/>
              <a:t> </a:t>
            </a:r>
            <a:r>
              <a:rPr sz="1200" dirty="0" err="1"/>
              <a:t>prevista</a:t>
            </a:r>
            <a:r>
              <a:rPr sz="1200" dirty="0"/>
              <a:t>.</a:t>
            </a:r>
          </a:p>
        </p:txBody>
      </p:sp>
      <p:sp>
        <p:nvSpPr>
          <p:cNvPr id="27" name="Rounded Rectangle 69">
            <a:extLst>
              <a:ext uri="{FF2B5EF4-FFF2-40B4-BE49-F238E27FC236}">
                <a16:creationId xmlns:a16="http://schemas.microsoft.com/office/drawing/2014/main" id="{EF4EF219-C3EC-2636-5E28-990FC6BE7872}"/>
              </a:ext>
            </a:extLst>
          </p:cNvPr>
          <p:cNvSpPr/>
          <p:nvPr/>
        </p:nvSpPr>
        <p:spPr>
          <a:xfrm>
            <a:off x="5609246" y="4427565"/>
            <a:ext cx="6070259" cy="1675417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71">
            <a:extLst>
              <a:ext uri="{FF2B5EF4-FFF2-40B4-BE49-F238E27FC236}">
                <a16:creationId xmlns:a16="http://schemas.microsoft.com/office/drawing/2014/main" id="{F3EBFA0E-B3D1-D3DB-6172-8700A3B497E6}"/>
              </a:ext>
            </a:extLst>
          </p:cNvPr>
          <p:cNvSpPr txBox="1"/>
          <p:nvPr/>
        </p:nvSpPr>
        <p:spPr>
          <a:xfrm>
            <a:off x="5883566" y="4757558"/>
            <a:ext cx="23101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dirty="0" err="1"/>
              <a:t>Mensagem-chave</a:t>
            </a:r>
            <a:endParaRPr dirty="0"/>
          </a:p>
        </p:txBody>
      </p:sp>
      <p:sp>
        <p:nvSpPr>
          <p:cNvPr id="33" name="TextBox 72">
            <a:extLst>
              <a:ext uri="{FF2B5EF4-FFF2-40B4-BE49-F238E27FC236}">
                <a16:creationId xmlns:a16="http://schemas.microsoft.com/office/drawing/2014/main" id="{34E53FC0-78B7-D995-D42F-9E3CB2D4555A}"/>
              </a:ext>
            </a:extLst>
          </p:cNvPr>
          <p:cNvSpPr txBox="1"/>
          <p:nvPr/>
        </p:nvSpPr>
        <p:spPr>
          <a:xfrm>
            <a:off x="5947310" y="5124093"/>
            <a:ext cx="5394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preço</a:t>
            </a:r>
            <a:r>
              <a:rPr dirty="0"/>
              <a:t> </a:t>
            </a:r>
            <a:r>
              <a:rPr dirty="0" err="1"/>
              <a:t>recomendado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necessariamente</a:t>
            </a:r>
            <a:r>
              <a:rPr dirty="0"/>
              <a:t> o </a:t>
            </a:r>
            <a:r>
              <a:rPr dirty="0" err="1"/>
              <a:t>menor</a:t>
            </a:r>
            <a:r>
              <a:rPr dirty="0"/>
              <a:t> nem o </a:t>
            </a:r>
            <a:r>
              <a:rPr dirty="0" err="1"/>
              <a:t>maior</a:t>
            </a:r>
            <a:r>
              <a:rPr dirty="0"/>
              <a:t>: é o </a:t>
            </a:r>
            <a:r>
              <a:rPr dirty="0" err="1"/>
              <a:t>ponto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preço</a:t>
            </a:r>
            <a:r>
              <a:rPr dirty="0"/>
              <a:t> ×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prevista</a:t>
            </a:r>
            <a:r>
              <a:rPr dirty="0"/>
              <a:t> </a:t>
            </a:r>
            <a:r>
              <a:rPr dirty="0" err="1"/>
              <a:t>maximiza</a:t>
            </a:r>
            <a:r>
              <a:rPr dirty="0"/>
              <a:t> a </a:t>
            </a:r>
            <a:r>
              <a:rPr dirty="0" err="1"/>
              <a:t>receita</a:t>
            </a:r>
            <a:r>
              <a:rPr dirty="0"/>
              <a:t>.</a:t>
            </a: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B246FD0C-9601-B5D8-1FE9-BE74F4F3AE8F}"/>
              </a:ext>
            </a:extLst>
          </p:cNvPr>
          <p:cNvSpPr/>
          <p:nvPr/>
        </p:nvSpPr>
        <p:spPr>
          <a:xfrm>
            <a:off x="5611664" y="4427565"/>
            <a:ext cx="114202" cy="1675417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SIMULAÇÃO DE PREÇOS E RECEITA ESPERADA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testa</a:t>
            </a:r>
            <a:r>
              <a:rPr dirty="0"/>
              <a:t> </a:t>
            </a:r>
            <a:r>
              <a:rPr dirty="0" err="1"/>
              <a:t>cenários</a:t>
            </a:r>
            <a:r>
              <a:rPr dirty="0"/>
              <a:t> e </a:t>
            </a:r>
            <a:r>
              <a:rPr dirty="0" err="1"/>
              <a:t>recomenda</a:t>
            </a:r>
            <a:r>
              <a:rPr dirty="0"/>
              <a:t> o </a:t>
            </a:r>
            <a:r>
              <a:rPr dirty="0" err="1"/>
              <a:t>preço</a:t>
            </a:r>
            <a:r>
              <a:rPr dirty="0"/>
              <a:t> com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receita</a:t>
            </a:r>
            <a:r>
              <a:rPr dirty="0"/>
              <a:t> </a:t>
            </a:r>
            <a:r>
              <a:rPr dirty="0" err="1"/>
              <a:t>prevista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Cenário apresentado na base: Julho / Início do Mês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2221992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Produto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2057400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35224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08376" y="2221992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Preço Linear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057400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98848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221992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Preço Rede Neural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057400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2221992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Receita Linear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057400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6448" y="2221992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Receita Rede Neural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057400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04120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77272" y="2221992"/>
            <a:ext cx="859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Ganho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770632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926080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Vergalhão de Aço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35224" y="2770632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0088" y="2926080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R$ 48,00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2770632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98848" y="2770632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53712" y="2926080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R$ 48,00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2770632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45936" y="2926080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R$ 31.718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2770632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83296" y="2770632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2926080"/>
            <a:ext cx="1856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R$ 38.643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2770632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04120" y="2770632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58984" y="292608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+21,8%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483864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" y="3639312"/>
            <a:ext cx="2130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Tela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35224" y="3483864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90088" y="3639312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R$ 120,00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98848" y="3483864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98848" y="3483864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53712" y="3639312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R$ 143,10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3483864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5936" y="3639312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R$ 31.584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83296" y="3483864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83296" y="3483864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38160" y="3639312"/>
            <a:ext cx="1856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R$ 114.446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04120" y="3483864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104120" y="3483864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58984" y="36393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+262,4%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197096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4944" y="4352544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Treliça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35224" y="4197096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0088" y="4352544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R$ 40,75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98848" y="4197096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498848" y="4197096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53712" y="4352544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R$ 35,00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91072" y="4197096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45936" y="4352544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R$ 12.037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83296" y="4197096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83296" y="4197096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38160" y="4352544"/>
            <a:ext cx="1856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R$ 13.957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04120" y="4197096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104120" y="4197096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58984" y="4352544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+15,9%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8680" y="5257800"/>
            <a:ext cx="1056132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68680" y="5257800"/>
            <a:ext cx="73152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143000" y="54681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t>Mensagem-chave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97480" y="541324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preço</a:t>
            </a:r>
            <a:r>
              <a:rPr dirty="0"/>
              <a:t> </a:t>
            </a:r>
            <a:r>
              <a:rPr dirty="0" err="1"/>
              <a:t>recomendado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necessariamente</a:t>
            </a:r>
            <a:r>
              <a:rPr dirty="0"/>
              <a:t> o </a:t>
            </a:r>
            <a:r>
              <a:rPr dirty="0" err="1"/>
              <a:t>menor</a:t>
            </a:r>
            <a:r>
              <a:rPr dirty="0"/>
              <a:t> nem o </a:t>
            </a:r>
            <a:r>
              <a:rPr dirty="0" err="1"/>
              <a:t>maior</a:t>
            </a:r>
            <a:r>
              <a:rPr dirty="0"/>
              <a:t>: é o </a:t>
            </a:r>
            <a:r>
              <a:rPr dirty="0" err="1"/>
              <a:t>ponto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preço</a:t>
            </a:r>
            <a:r>
              <a:rPr dirty="0"/>
              <a:t> ×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prevista</a:t>
            </a:r>
            <a:r>
              <a:rPr dirty="0"/>
              <a:t> </a:t>
            </a:r>
            <a:r>
              <a:rPr dirty="0" err="1"/>
              <a:t>maximiza</a:t>
            </a:r>
            <a:r>
              <a:rPr dirty="0"/>
              <a:t> a </a:t>
            </a:r>
            <a:r>
              <a:rPr dirty="0" err="1"/>
              <a:t>receita</a:t>
            </a:r>
            <a:r>
              <a:rPr dirty="0"/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CONCLUSÃO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De preço fixo para decisão orientada por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A principal contribuição do modelo é transformar sinais dispersos de mercado em uma recomendação de preço contextual.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5303520" cy="2514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3152" cy="2514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ptos"/>
              </a:defRPr>
            </a:pPr>
            <a:r>
              <a:rPr dirty="0"/>
              <a:t>CONCLUSÃO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• A Rede Neural superou o modelo linear nos três produtos.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rPr dirty="0"/>
              <a:t>• O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destaque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a Tela, com R² de 0,97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• A simulação permite estimar a resposta da demanda a diferentes preços.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• A decisão passa a buscar receita esperada máxima, não apenas margem unitária ou preço fixo.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5303520" cy="2514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240280"/>
            <a:ext cx="73152" cy="25146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PRÓXIMOS PASSOS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ptos"/>
              </a:defRPr>
            </a:pPr>
            <a:r>
              <a:t>Alimentação diária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Atualizar preços dos concorrentes e sinais de demanda.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558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355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ptos"/>
              </a:defRPr>
            </a:pPr>
            <a:r>
              <a:t>Otimizar lucro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5584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Incluir custos para maximizar margem, além da receita.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22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922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ptos"/>
              </a:defRPr>
            </a:pPr>
            <a:r>
              <a:t>Escalar o modelo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9227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Adicionar regiões, filiais e regras comerciais.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257800"/>
            <a:ext cx="987552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43000" y="5257800"/>
            <a:ext cx="73152" cy="6583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5468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ptos"/>
              </a:defRPr>
            </a:pPr>
            <a:r>
              <a:t>Decisão recomendada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41324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Iniciar um piloto controlado de precificação dinâmica, monitorando receita, volume e margem versus a política tradicional.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571</Words>
  <Application>Microsoft Office PowerPoint</Application>
  <PresentationFormat>Widescreen</PresentationFormat>
  <Paragraphs>98</Paragraphs>
  <Slides>5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Aryadne Meira Fernandes</cp:lastModifiedBy>
  <cp:revision>4</cp:revision>
  <dcterms:created xsi:type="dcterms:W3CDTF">2013-01-27T09:14:16Z</dcterms:created>
  <dcterms:modified xsi:type="dcterms:W3CDTF">2026-08-26T22:36:47Z</dcterms:modified>
  <cp:category/>
</cp:coreProperties>
</file>