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lang="pt-BR" sz="2000" b="1" dirty="0">
                <a:solidFill>
                  <a:srgbClr val="0F172A"/>
                </a:solidFill>
              </a:rPr>
              <a:t>Como alavancar o resultado da empresa evoluindo a precificação dos materiais através de precificação dinâmica</a:t>
            </a:r>
            <a:endParaRPr sz="2000" dirty="0"/>
          </a:p>
        </p:txBody>
      </p:sp>
      <p:sp>
        <p:nvSpPr>
          <p:cNvPr id="3" name="Rounded Rectangle 2"/>
          <p:cNvSpPr/>
          <p:nvPr/>
        </p:nvSpPr>
        <p:spPr>
          <a:xfrm>
            <a:off x="731519" y="1563329"/>
            <a:ext cx="5020351" cy="33528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 dirty="0"/>
              <a:t>🏗️ O </a:t>
            </a:r>
            <a:r>
              <a:rPr lang="pt-BR" dirty="0"/>
              <a:t>p</a:t>
            </a:r>
            <a:r>
              <a:rPr dirty="0" err="1"/>
              <a:t>roblema</a:t>
            </a:r>
            <a:r>
              <a:rPr dirty="0"/>
              <a:t> de </a:t>
            </a:r>
            <a:r>
              <a:rPr lang="pt-BR" dirty="0"/>
              <a:t>n</a:t>
            </a:r>
            <a:r>
              <a:rPr dirty="0" err="1"/>
              <a:t>egócio</a:t>
            </a:r>
            <a:br>
              <a:rPr dirty="0"/>
            </a:br>
            <a:endParaRPr dirty="0"/>
          </a:p>
          <a:p>
            <a:pPr marL="171450" indent="-171450">
              <a:buFont typeface="Arial" panose="020B0604020202020204" pitchFamily="34" charset="0"/>
              <a:buChar char="•"/>
              <a:defRPr sz="1150">
                <a:solidFill>
                  <a:srgbClr val="475569"/>
                </a:solidFill>
              </a:defRPr>
            </a:pPr>
            <a:r>
              <a:rPr lang="pt-BR" sz="1150" dirty="0">
                <a:solidFill>
                  <a:srgbClr val="475569"/>
                </a:solidFill>
              </a:rPr>
              <a:t>Produtos estruturais (Vergalhão, Tela e Treliça) operam com margens comprimidas e compradores B2B sensíveis a preço. </a:t>
            </a:r>
          </a:p>
          <a:p>
            <a:pPr marL="171450" indent="-171450">
              <a:buFont typeface="Arial" panose="020B0604020202020204" pitchFamily="34" charset="0"/>
              <a:buChar char="•"/>
              <a:defRPr sz="1150">
                <a:solidFill>
                  <a:srgbClr val="475569"/>
                </a:solidFill>
              </a:defRPr>
            </a:pPr>
            <a:endParaRPr lang="pt-BR" sz="1150" dirty="0">
              <a:solidFill>
                <a:srgbClr val="47556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1150">
                <a:solidFill>
                  <a:srgbClr val="475569"/>
                </a:solidFill>
              </a:defRPr>
            </a:pPr>
            <a:r>
              <a:rPr lang="pt-BR" sz="1150" dirty="0">
                <a:solidFill>
                  <a:srgbClr val="475569"/>
                </a:solidFill>
              </a:rPr>
              <a:t>As tabelas de preços estáticas não acompanham as oscilações diárias dos concorrentes e a sazonalidade de obras.</a:t>
            </a:r>
            <a:br>
              <a:rPr dirty="0"/>
            </a:b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409649" y="1563329"/>
            <a:ext cx="5020351" cy="33528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47857"/>
                </a:solidFill>
              </a:defRPr>
            </a:pPr>
            <a:r>
              <a:rPr dirty="0"/>
              <a:t>🧠 A </a:t>
            </a:r>
            <a:r>
              <a:rPr lang="pt-BR" dirty="0"/>
              <a:t>s</a:t>
            </a:r>
            <a:r>
              <a:rPr dirty="0" err="1"/>
              <a:t>olução</a:t>
            </a:r>
            <a:r>
              <a:rPr dirty="0"/>
              <a:t> com Rede Neural</a:t>
            </a:r>
            <a:br>
              <a:rPr dirty="0"/>
            </a:br>
            <a:endParaRPr dirty="0"/>
          </a:p>
          <a:p>
            <a:pPr marL="171450" indent="-171450">
              <a:buFont typeface="Arial" panose="020B0604020202020204" pitchFamily="34" charset="0"/>
              <a:buChar char="•"/>
              <a:defRPr sz="1150">
                <a:solidFill>
                  <a:srgbClr val="475569"/>
                </a:solidFill>
              </a:defRPr>
            </a:pPr>
            <a:r>
              <a:rPr lang="pt-BR" sz="1150" dirty="0">
                <a:solidFill>
                  <a:srgbClr val="475569"/>
                </a:solidFill>
              </a:rPr>
              <a:t>Em vez de usar modelos lineares (que assumem uma elasticidade-preço estática em linha reta), a MLP aprende relações não lineares entre preço, mercado, histórico de vendas, estoque e período do mês para estimar demanda e testar cenários.</a:t>
            </a:r>
          </a:p>
          <a:p>
            <a:pPr marL="171450" indent="-171450">
              <a:buFont typeface="Arial" panose="020B0604020202020204" pitchFamily="34" charset="0"/>
              <a:buChar char="•"/>
              <a:defRPr sz="1150">
                <a:solidFill>
                  <a:srgbClr val="475569"/>
                </a:solidFill>
              </a:defRPr>
            </a:pPr>
            <a:endParaRPr lang="pt-BR" sz="1150" dirty="0">
              <a:solidFill>
                <a:srgbClr val="47556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1150">
                <a:solidFill>
                  <a:srgbClr val="475569"/>
                </a:solidFill>
              </a:defRPr>
            </a:pPr>
            <a:r>
              <a:rPr lang="pt-BR" sz="1150" dirty="0">
                <a:solidFill>
                  <a:srgbClr val="475569"/>
                </a:solidFill>
              </a:rPr>
              <a:t>A heurística Se-Então é mantida como benchmark de negócio; a simulação reproduzida no notebook apresenta ganhos de +19,06% / +18,67% / +23,37% versus o histórico para Tela, Treliça e Vergalhão.</a:t>
            </a:r>
          </a:p>
          <a:p>
            <a:pPr marL="171450" indent="-171450">
              <a:buFont typeface="Arial" panose="020B0604020202020204" pitchFamily="34" charset="0"/>
              <a:buChar char="•"/>
              <a:defRPr sz="1150">
                <a:solidFill>
                  <a:srgbClr val="475569"/>
                </a:solidFill>
              </a:defRPr>
            </a:pPr>
            <a:endParaRPr lang="pt-BR" sz="1150" dirty="0">
              <a:solidFill>
                <a:srgbClr val="47556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1150">
                <a:solidFill>
                  <a:srgbClr val="475569"/>
                </a:solidFill>
              </a:defRPr>
            </a:pPr>
            <a:endParaRPr lang="pt-BR" sz="1150" dirty="0">
              <a:solidFill>
                <a:srgbClr val="47556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1150">
                <a:solidFill>
                  <a:srgbClr val="475569"/>
                </a:solidFill>
              </a:defRPr>
            </a:pPr>
            <a:endParaRPr dirty="0"/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BDF9E011-622D-1115-6001-B68408E73309}"/>
              </a:ext>
            </a:extLst>
          </p:cNvPr>
          <p:cNvSpPr/>
          <p:nvPr/>
        </p:nvSpPr>
        <p:spPr>
          <a:xfrm>
            <a:off x="731519" y="5476568"/>
            <a:ext cx="10698481" cy="55847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rPr lang="pt-BR" sz="1600" b="1" dirty="0"/>
              <a:t>Desafio: Capturar cotações cirúrgicas contra o concorrente no início do mês para reter um maior volume de compras das construtoras sem destruir a margem unitária dos materiais e maximizar a receita.</a:t>
            </a: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lang="pt-BR" sz="2000" b="1" dirty="0">
                <a:solidFill>
                  <a:srgbClr val="0F172A"/>
                </a:solidFill>
              </a:rPr>
              <a:t>Resultados Técnicos do modelo</a:t>
            </a:r>
            <a:endParaRPr sz="20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441653"/>
              </p:ext>
            </p:extLst>
          </p:nvPr>
        </p:nvGraphicFramePr>
        <p:xfrm>
          <a:off x="731520" y="1075614"/>
          <a:ext cx="1069848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Produto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lang="pt-BR" dirty="0"/>
                        <a:t>R² - médio</a:t>
                      </a:r>
                      <a:endParaRPr dirty="0"/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MAPE </a:t>
                      </a:r>
                      <a:r>
                        <a:rPr lang="pt-BR" dirty="0"/>
                        <a:t>médio (%)</a:t>
                      </a:r>
                      <a:endParaRPr dirty="0"/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Receita Histórica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Receita</a:t>
                      </a:r>
                      <a:r>
                        <a:rPr dirty="0"/>
                        <a:t> com</a:t>
                      </a:r>
                      <a:r>
                        <a:rPr lang="pt-BR" dirty="0"/>
                        <a:t> MLP</a:t>
                      </a:r>
                      <a:endParaRPr dirty="0"/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Ganho Financeiro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dirty="0"/>
                        <a:t>Tela de </a:t>
                      </a:r>
                      <a:r>
                        <a:rPr dirty="0" err="1"/>
                        <a:t>Aço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0.96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13,04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3.120.254,83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5.003.877,94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1.883.623,11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Treliça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0.96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12,39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1.369.523,04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2.010.287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640.764,34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Vergalhão de Aço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0.97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14,26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2.526.350,98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4.553.008,89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2.026.657,91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418478"/>
            <a:ext cx="10698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rPr lang="pt-BR" sz="1050" i="1" dirty="0"/>
              <a:t>Nota de ajuste no modelo¹: o cálculo da demanda foi corrigido, retirando o divisor de escala temporal que estava sendo aplicado de forma errada.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lang="pt-BR" sz="1050" i="1" dirty="0"/>
              <a:t>Nota²: A simulação usa uma grade de preços entre 80% e 120% do concorrente e seleciona o preço com maior receita prevista.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7DE25F1-CB3B-E7BD-63C7-1EF8632E9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935720"/>
            <a:ext cx="9144000" cy="28467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sz="2000" dirty="0"/>
              <a:t>ROI</a:t>
            </a:r>
            <a:r>
              <a:rPr lang="pt-BR" sz="2000" dirty="0"/>
              <a:t> calculado com base na </a:t>
            </a:r>
            <a:r>
              <a:rPr lang="pt-BR" sz="2000" dirty="0" err="1"/>
              <a:t>execusão</a:t>
            </a:r>
            <a:r>
              <a:rPr lang="pt-BR" sz="2000" dirty="0"/>
              <a:t> do modelo</a:t>
            </a:r>
            <a:endParaRPr sz="2000" dirty="0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3535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2" rtlCol="0" anchor="ctr"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lang="pt-BR" dirty="0"/>
              <a:t>Premissas utilizadas no cálculo</a:t>
            </a:r>
            <a:br>
              <a:rPr dirty="0"/>
            </a:br>
            <a:endParaRPr dirty="0"/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75569"/>
                </a:solidFill>
              </a:defRPr>
            </a:pPr>
            <a:r>
              <a:rPr lang="pt-BR" sz="1400" dirty="0"/>
              <a:t>Setup: R$ 45.000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75569"/>
                </a:solidFill>
              </a:defRPr>
            </a:pPr>
            <a:r>
              <a:rPr lang="pt-BR" sz="1400" dirty="0" err="1"/>
              <a:t>Run</a:t>
            </a:r>
            <a:r>
              <a:rPr lang="pt-BR" sz="1400" dirty="0"/>
              <a:t> anual: R$ 54.000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75569"/>
                </a:solidFill>
              </a:defRPr>
            </a:pPr>
            <a:r>
              <a:rPr lang="pt-BR" sz="1400" dirty="0"/>
              <a:t>Margem incremental: 25% (premissa da </a:t>
            </a:r>
            <a:r>
              <a:rPr lang="pt-BR" sz="1400" dirty="0" err="1"/>
              <a:t>PoC</a:t>
            </a:r>
            <a:r>
              <a:rPr lang="pt-BR" sz="14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75569"/>
                </a:solidFill>
              </a:defRPr>
            </a:pPr>
            <a:endParaRPr lang="pt-BR" sz="1400" dirty="0"/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75569"/>
                </a:solidFill>
              </a:defRPr>
            </a:pPr>
            <a:endParaRPr lang="pt-BR" sz="1400" dirty="0"/>
          </a:p>
          <a:p>
            <a:pPr>
              <a:defRPr sz="1500" b="1">
                <a:solidFill>
                  <a:srgbClr val="0F172A"/>
                </a:solidFill>
              </a:defRPr>
            </a:pPr>
            <a:endParaRPr lang="pt-BR" b="1" dirty="0">
              <a:solidFill>
                <a:srgbClr val="0F172A"/>
              </a:solidFill>
            </a:endParaRPr>
          </a:p>
          <a:p>
            <a:pPr>
              <a:defRPr sz="1500" b="1">
                <a:solidFill>
                  <a:srgbClr val="0F172A"/>
                </a:solidFill>
              </a:defRPr>
            </a:pPr>
            <a:endParaRPr lang="pt-BR" b="1" dirty="0">
              <a:solidFill>
                <a:srgbClr val="0F172A"/>
              </a:solidFill>
            </a:endParaRPr>
          </a:p>
          <a:p>
            <a:pPr>
              <a:defRPr sz="1500" b="1">
                <a:solidFill>
                  <a:srgbClr val="0F172A"/>
                </a:solidFill>
              </a:defRPr>
            </a:pPr>
            <a:endParaRPr lang="pt-BR" b="1" dirty="0">
              <a:solidFill>
                <a:srgbClr val="0F172A"/>
              </a:solidFill>
            </a:endParaRPr>
          </a:p>
          <a:p>
            <a:pPr>
              <a:defRPr sz="1500" b="1">
                <a:solidFill>
                  <a:srgbClr val="0F172A"/>
                </a:solidFill>
              </a:defRPr>
            </a:pPr>
            <a:endParaRPr lang="pt-BR" b="1" dirty="0">
              <a:solidFill>
                <a:srgbClr val="0F172A"/>
              </a:solidFill>
            </a:endParaRPr>
          </a:p>
          <a:p>
            <a:pPr>
              <a:defRPr sz="1500" b="1">
                <a:solidFill>
                  <a:srgbClr val="0F172A"/>
                </a:solidFill>
              </a:defRPr>
            </a:pPr>
            <a:endParaRPr lang="pt-BR" b="1" dirty="0">
              <a:solidFill>
                <a:srgbClr val="0F172A"/>
              </a:solidFill>
            </a:endParaRPr>
          </a:p>
          <a:p>
            <a:pPr>
              <a:defRPr sz="1500" b="1">
                <a:solidFill>
                  <a:srgbClr val="0F172A"/>
                </a:solidFill>
              </a:defRPr>
            </a:pPr>
            <a:endParaRPr lang="pt-BR" b="1" dirty="0">
              <a:solidFill>
                <a:srgbClr val="0F172A"/>
              </a:solidFill>
            </a:endParaRPr>
          </a:p>
          <a:p>
            <a:pPr>
              <a:defRPr sz="1500" b="1">
                <a:solidFill>
                  <a:srgbClr val="0F172A"/>
                </a:solidFill>
              </a:defRPr>
            </a:pPr>
            <a:endParaRPr lang="pt-BR" b="1" dirty="0">
              <a:solidFill>
                <a:srgbClr val="0F172A"/>
              </a:solidFill>
            </a:endParaRP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rPr lang="pt-BR" b="1" dirty="0">
                <a:solidFill>
                  <a:srgbClr val="0F172A"/>
                </a:solidFill>
              </a:rPr>
              <a:t>Resultado calculado no modelo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endParaRPr lang="pt-BR" b="1" dirty="0">
              <a:solidFill>
                <a:srgbClr val="0F172A"/>
              </a:solidFill>
            </a:endParaRPr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lang="pt-BR" sz="1400" dirty="0"/>
              <a:t>• Ganho de receita no teste: R$ 4.551.045,36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lang="pt-BR" sz="1400" dirty="0"/>
              <a:t>• Janela de teste: 220 dias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lang="pt-BR" sz="1400" dirty="0"/>
              <a:t>• Ganho anualizado: R$ 7.550.597,99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lang="pt-BR" sz="1400" dirty="0"/>
              <a:t>• Margem incremental anual: R$ 1.887.649,50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lang="pt-BR" sz="1400" dirty="0"/>
              <a:t>• Resultado líquido Ano 1: R$ 1.788.649,50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lang="pt-BR" sz="1400" dirty="0"/>
              <a:t>• ROI Ano 1: 1.806,7%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lang="pt-BR" sz="1400" dirty="0"/>
              <a:t>• </a:t>
            </a:r>
            <a:r>
              <a:rPr lang="pt-BR" sz="1400" dirty="0" err="1"/>
              <a:t>Payback</a:t>
            </a:r>
            <a:r>
              <a:rPr lang="pt-BR" sz="1400" dirty="0"/>
              <a:t>: 0,29 mês (aprox. 9 dias)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endParaRPr sz="1400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C7338450-1EE0-EC8A-5485-417177C64CD2}"/>
              </a:ext>
            </a:extLst>
          </p:cNvPr>
          <p:cNvSpPr txBox="1"/>
          <p:nvPr/>
        </p:nvSpPr>
        <p:spPr>
          <a:xfrm>
            <a:off x="502920" y="6269833"/>
            <a:ext cx="10698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rPr lang="pt-BR" sz="1050" i="1" dirty="0"/>
              <a:t>Nota³: ROI anualizado a partir da janela de teste; não representa garantia de resultado comercial.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B6F85-1A1E-F202-69C5-652413C44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6B2AF7-7B59-45C4-8A59-608671A36D0F}"/>
              </a:ext>
            </a:extLst>
          </p:cNvPr>
          <p:cNvSpPr txBox="1"/>
          <p:nvPr/>
        </p:nvSpPr>
        <p:spPr>
          <a:xfrm>
            <a:off x="731520" y="457200"/>
            <a:ext cx="10698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lang="pt-BR" sz="2000" dirty="0"/>
              <a:t>Próximos passos</a:t>
            </a:r>
            <a:endParaRPr sz="2000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C6237A4-3051-EB65-E414-0C6B68F3C59F}"/>
              </a:ext>
            </a:extLst>
          </p:cNvPr>
          <p:cNvSpPr/>
          <p:nvPr/>
        </p:nvSpPr>
        <p:spPr>
          <a:xfrm>
            <a:off x="731519" y="1645920"/>
            <a:ext cx="10155555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rPr lang="pt-BR" sz="1600" b="1" dirty="0">
                <a:solidFill>
                  <a:srgbClr val="475569"/>
                </a:solidFill>
              </a:rPr>
              <a:t>CONCLUSÃO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endParaRPr lang="pt-BR" sz="1600" b="1" dirty="0">
              <a:solidFill>
                <a:srgbClr val="475569"/>
              </a:solidFill>
            </a:endParaRPr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lang="pt-BR" sz="1400" dirty="0"/>
              <a:t>A rede neural transforma precificação de um processo fixo em uma decisão contextual baseada em demanda prevista e cenário de mercado apoiando nas análises sazonais e comportamento temporal dos preços de mercado. A MLP torna o acompanhamento e definição de preços algo mais dinâmico e automatizado, gerando ajustes de preços que impulsionam o ganho de receita e margem da empresa.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75569"/>
                </a:solidFill>
              </a:defRPr>
            </a:pPr>
            <a:endParaRPr lang="pt-BR" sz="1400" dirty="0"/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lang="pt-BR" sz="1600" b="1" dirty="0">
                <a:solidFill>
                  <a:srgbClr val="475569"/>
                </a:solidFill>
              </a:rPr>
              <a:t>PRÓXIMOS PASSOS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lang="pt-BR" sz="1400" dirty="0"/>
              <a:t>1. Piloto controlado de 30 dias em uma filial/carteira B2B.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lang="pt-BR" sz="1400" dirty="0"/>
              <a:t>2. Comparar IA versus política tradicional em receita, volume, margem e conversão.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lang="pt-BR" sz="1400" dirty="0"/>
              <a:t>3. Incorporar custos e restrições comerciais para evoluir de maximização de receita para otimização de lucro.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lang="pt-BR" sz="1400" dirty="0"/>
              <a:t>4. Escalar e integrar ao processo comercial após validação.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lang="pt-BR" sz="1400" dirty="0"/>
              <a:t>5.Governança e monitoramento de erro/</a:t>
            </a:r>
            <a:r>
              <a:rPr lang="pt-BR" sz="1400" dirty="0" err="1"/>
              <a:t>drift</a:t>
            </a:r>
            <a:r>
              <a:rPr lang="pt-BR" sz="1400" dirty="0"/>
              <a:t>, revisão periódica e </a:t>
            </a:r>
            <a:r>
              <a:rPr lang="pt-BR" sz="1400" dirty="0" err="1"/>
              <a:t>rollback</a:t>
            </a:r>
            <a:r>
              <a:rPr lang="pt-BR" sz="1400" dirty="0"/>
              <a:t> para baseline em caso de degradação</a:t>
            </a:r>
            <a:r>
              <a:rPr lang="pt-BR" sz="1600" dirty="0"/>
              <a:t>.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br>
              <a:rPr lang="pt-BR" sz="1600" dirty="0"/>
            </a:b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862924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542</Words>
  <Application>Microsoft Office PowerPoint</Application>
  <PresentationFormat>Widescreen</PresentationFormat>
  <Paragraphs>74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Aryadne Meira Fernandes</dc:creator>
  <cp:keywords/>
  <dc:description>generated using python-pptx</dc:description>
  <cp:lastModifiedBy>Aryadne Meira Fernandes</cp:lastModifiedBy>
  <cp:revision>4</cp:revision>
  <dcterms:created xsi:type="dcterms:W3CDTF">2013-01-27T09:14:16Z</dcterms:created>
  <dcterms:modified xsi:type="dcterms:W3CDTF">2026-10-04T22:56:15Z</dcterms:modified>
  <cp:category/>
</cp:coreProperties>
</file>