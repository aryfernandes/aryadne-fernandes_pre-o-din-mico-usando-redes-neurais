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b="1" dirty="0">
                <a:solidFill>
                  <a:srgbClr val="0F172A"/>
                </a:solidFill>
              </a:rPr>
              <a:t>Como alavancar o resultado da empresa evoluindo a precificação dos materiais através de precificação dinâmica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563329"/>
            <a:ext cx="3291840" cy="3352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🏗️ O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Negócio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Produtos estruturais (Vergalhão, Tela e Treliça) operam com margens comprimidas e compradores B2B sensíveis a preço. 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lang="pt-BR" sz="1150" dirty="0">
              <a:solidFill>
                <a:srgbClr val="47556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As tabelas de preços estáticas não acompanham as oscilações diárias dos concorrentes e a sazonalidade de obras.</a:t>
            </a:r>
            <a:br>
              <a:rPr dirty="0"/>
            </a:b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389120" y="1563329"/>
            <a:ext cx="3291840" cy="33528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rPr dirty="0"/>
              <a:t>❌ </a:t>
            </a:r>
            <a:r>
              <a:rPr dirty="0" err="1"/>
              <a:t>Automação</a:t>
            </a:r>
            <a:r>
              <a:rPr dirty="0"/>
              <a:t> Simples Falha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dirty="0"/>
              <a:t>Testes com regras determinísticas simples (Heurística Se-Então: "Desconto de 5% se o estoque estiver alto; aumento de 4% se o estoque estiver baixo") causaram uma perda de -3,2% no faturamento total. 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dirty="0"/>
              <a:t>Regras fixas dão descontos desnecessários quando a demanda está aquecida no início do mês e perdem cotações críticas no fim.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046720" y="1563329"/>
            <a:ext cx="3383280" cy="3352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rPr dirty="0"/>
              <a:t>🧠 A </a:t>
            </a:r>
            <a:r>
              <a:rPr dirty="0" err="1"/>
              <a:t>Solução</a:t>
            </a:r>
            <a:r>
              <a:rPr dirty="0"/>
              <a:t> com Rede Neural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Em vez de usar modelos lineares (que assumem uma elasticidade-preço estática em linha reta), a IA mapeia a </a:t>
            </a:r>
            <a:r>
              <a:rPr lang="pt-BR" sz="1150" b="1" dirty="0">
                <a:solidFill>
                  <a:srgbClr val="475569"/>
                </a:solidFill>
              </a:rPr>
              <a:t>elasticidade não-linear real da curva de demanda</a:t>
            </a:r>
            <a:r>
              <a:rPr lang="pt-BR" sz="1150" dirty="0">
                <a:solidFill>
                  <a:srgbClr val="475569"/>
                </a:solidFill>
              </a:rPr>
              <a:t>, considerando 14 variáveis simultâneas (concorrente, estoque diário e sazonalidade cíclica).</a:t>
            </a:r>
            <a:endParaRPr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DF9E011-622D-1115-6001-B68408E73309}"/>
              </a:ext>
            </a:extLst>
          </p:cNvPr>
          <p:cNvSpPr/>
          <p:nvPr/>
        </p:nvSpPr>
        <p:spPr>
          <a:xfrm>
            <a:off x="731519" y="5476568"/>
            <a:ext cx="10698481" cy="55847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/>
              <a:t>Desafio: Capturar cotações cirúrgicas contra o concorrente no início do mês para reter um maior volume de compras das construtoras sem destruir a margem unitária dos materiais e maximizar a receita.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b="1" dirty="0">
                <a:solidFill>
                  <a:srgbClr val="0F172A"/>
                </a:solidFill>
              </a:rPr>
              <a:t>Resultados Técnicos do modelo</a:t>
            </a:r>
            <a:endParaRPr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0739"/>
              </p:ext>
            </p:extLst>
          </p:nvPr>
        </p:nvGraphicFramePr>
        <p:xfrm>
          <a:off x="731520" y="1075614"/>
          <a:ext cx="106984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Produto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pt-BR" dirty="0"/>
                        <a:t>R² - Desvio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MAPE </a:t>
                      </a:r>
                      <a:r>
                        <a:rPr lang="pt-BR" dirty="0"/>
                        <a:t>médio (%)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Histórica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com IA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Ganho Financeiro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Tela de </a:t>
                      </a:r>
                      <a:r>
                        <a:rPr dirty="0" err="1"/>
                        <a:t>Aço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0.96 – 0.02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13,04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3.120.254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5.003.877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1.833.623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Treliça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0.96 – 0.01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12,39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1.369.523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2.010.287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640.764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Vergalhão de Aço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0.97 – 0.01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14,26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2.526.350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4.533.008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2.026.657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34782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i="1" dirty="0"/>
              <a:t>Nota de ajuste no modelo: o cálculo da demanda foi corrigido, retirando o divisor de escala temporal que estava sendo aplicado de forma errada.</a:t>
            </a:r>
            <a:endParaRPr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52F855-A3FA-11B1-CFF9-C27A810D6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192" y="4032272"/>
            <a:ext cx="7555615" cy="2683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000" dirty="0"/>
              <a:t>ROI</a:t>
            </a:r>
            <a:r>
              <a:rPr lang="pt-BR" sz="2000" dirty="0"/>
              <a:t> esperado e governança do modelo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Retorno</a:t>
            </a:r>
            <a:r>
              <a:rPr dirty="0"/>
              <a:t> &amp; Custos (ROI)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Análise de Retorno e Custos (ROI Ano 1):Custo de Construção (Setup): R$ 45.000,00 (2 meses de </a:t>
            </a:r>
            <a:r>
              <a:rPr lang="pt-BR" dirty="0" err="1"/>
              <a:t>Squad</a:t>
            </a:r>
            <a:r>
              <a:rPr lang="pt-BR" dirty="0"/>
              <a:t> de IA + Infraestrutura inicial).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Custo de Sustentação Anual (</a:t>
            </a:r>
            <a:r>
              <a:rPr lang="pt-BR" dirty="0" err="1"/>
              <a:t>Run</a:t>
            </a:r>
            <a:r>
              <a:rPr lang="pt-BR" dirty="0"/>
              <a:t>): R$ 54.000,00/ano (Servidores, </a:t>
            </a:r>
            <a:r>
              <a:rPr lang="pt-BR" dirty="0" err="1"/>
              <a:t>retreinos</a:t>
            </a:r>
            <a:r>
              <a:rPr lang="pt-BR" dirty="0"/>
              <a:t> quinzenais e governança).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Margem Incremental Gerada (25% s/ Faturamento): R$ 1.259.582,57/ano.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Lucro Líquido do Projeto: R$ 1.160.582,57 | ROI Ano 1: +1.172,3%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 err="1"/>
              <a:t>Payback</a:t>
            </a:r>
            <a:r>
              <a:rPr lang="pt-BR" dirty="0"/>
              <a:t>: 0,4 meses (~12 dias de operação) ⏱️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 err="1"/>
              <a:t>Governança</a:t>
            </a:r>
            <a:r>
              <a:rPr dirty="0"/>
              <a:t> de </a:t>
            </a:r>
            <a:r>
              <a:rPr dirty="0" err="1"/>
              <a:t>MLOps</a:t>
            </a:r>
            <a:r>
              <a:rPr dirty="0"/>
              <a:t> &amp; </a:t>
            </a:r>
            <a:r>
              <a:rPr dirty="0" err="1"/>
              <a:t>Produção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Governança e Segurança em </a:t>
            </a:r>
            <a:r>
              <a:rPr lang="pt-BR" dirty="0" err="1"/>
              <a:t>Produção:Batch</a:t>
            </a:r>
            <a:r>
              <a:rPr lang="pt-BR" dirty="0"/>
              <a:t> </a:t>
            </a:r>
            <a:r>
              <a:rPr lang="pt-BR" dirty="0" err="1"/>
              <a:t>Scoring</a:t>
            </a:r>
            <a:r>
              <a:rPr lang="pt-BR" dirty="0"/>
              <a:t> Diário: Geração automática da tabela às 06h00 com carga direta no ERP dos vendedores.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Monitoramento de </a:t>
            </a:r>
            <a:r>
              <a:rPr lang="pt-BR" dirty="0" err="1"/>
              <a:t>Drift</a:t>
            </a:r>
            <a:r>
              <a:rPr lang="pt-BR" dirty="0"/>
              <a:t>: Alertas automáticos caso haja desvio de mercado (PSI &gt; 0.15) ou erro nas vendas (MAPE &gt; 12%).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dirty="0"/>
              <a:t>Política de </a:t>
            </a:r>
            <a:r>
              <a:rPr lang="pt-BR" dirty="0" err="1"/>
              <a:t>Rollback</a:t>
            </a:r>
            <a:r>
              <a:rPr lang="pt-BR" dirty="0"/>
              <a:t> Automático: Caso o erro MAPE ultrapasse 18% por 3 dias seguidos, o sistema chaveia automaticamente para a Regressão Linear Baseline por segurança.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6F85-1A1E-F202-69C5-652413C4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B2AF7-7B59-45C4-8A59-608671A36D0F}"/>
              </a:ext>
            </a:extLst>
          </p:cNvPr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dirty="0"/>
              <a:t>Próximos passos</a:t>
            </a:r>
            <a:endParaRPr sz="20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237A4-3051-EB65-E414-0C6B68F3C59F}"/>
              </a:ext>
            </a:extLst>
          </p:cNvPr>
          <p:cNvSpPr/>
          <p:nvPr/>
        </p:nvSpPr>
        <p:spPr>
          <a:xfrm>
            <a:off x="731519" y="1645920"/>
            <a:ext cx="101555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b="1" dirty="0"/>
              <a:t>Utilização da IA para alavanca de Margem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A Rede Neural (MLP) provou-se superior aos modelos lineares e às regras heurísticas puras (Se-Então). Ela não foca apenas em dar descontos automáticos, mas sim em identificar o limite exato da elasticidade-preço para capturar o maior volume de cotações com a melhor margem possível.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Alinhamento Estratégico (Gerdau): O projeto demonstrou viabilidade técnica e financeira (ROI de +1.172,3%), transformando um processo comercial tradicionalmente reativo em uma vantagem competitiva preditiva e ágil.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b="1" dirty="0"/>
              <a:t>Escalada e  implementação do modelo: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400" b="1" dirty="0"/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Fase 1 (Piloto): Iniciar um teste em lote (Batch </a:t>
            </a:r>
            <a:r>
              <a:rPr lang="pt-BR" sz="1400" dirty="0" err="1"/>
              <a:t>Scoring</a:t>
            </a:r>
            <a:r>
              <a:rPr lang="pt-BR" sz="1400" dirty="0"/>
              <a:t>) de 30 dias restrito a apenas uma filial ou carteira específica de clientes B2B para Vergalhão.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Fase 2 (Monitoramento): Avaliar diariamente o comportamento da margem incremental e da taxa de conversão contra o grupo de controle (vendedores usando a tabela tradicional).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Fase 3 (</a:t>
            </a:r>
            <a:r>
              <a:rPr lang="pt-BR" sz="1400" dirty="0" err="1"/>
              <a:t>Rollout</a:t>
            </a:r>
            <a:r>
              <a:rPr lang="pt-BR" sz="1400" dirty="0"/>
              <a:t>): Integração total do pipeline de </a:t>
            </a:r>
            <a:r>
              <a:rPr lang="pt-BR" sz="1400" dirty="0" err="1"/>
              <a:t>MLOps</a:t>
            </a:r>
            <a:r>
              <a:rPr lang="pt-BR" sz="1400" dirty="0"/>
              <a:t> automatizado no ERP SAP para o portfólio completo após a validação do piloto.</a:t>
            </a:r>
            <a:br>
              <a:rPr lang="pt-BR" sz="1400" dirty="0"/>
            </a:b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6292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656</Words>
  <Application>Microsoft Office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Aryadne Meira Fernandes</cp:lastModifiedBy>
  <cp:revision>3</cp:revision>
  <dcterms:created xsi:type="dcterms:W3CDTF">2013-01-27T09:14:16Z</dcterms:created>
  <dcterms:modified xsi:type="dcterms:W3CDTF">2026-09-09T23:13:35Z</dcterms:modified>
  <cp:category/>
</cp:coreProperties>
</file>