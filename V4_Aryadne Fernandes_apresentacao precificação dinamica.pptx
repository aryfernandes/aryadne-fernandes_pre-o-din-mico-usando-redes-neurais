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b="1" dirty="0">
                <a:solidFill>
                  <a:srgbClr val="0F172A"/>
                </a:solidFill>
              </a:rPr>
              <a:t>Como alavancar o resultado da empresa evoluindo a precificação dos materiais através de precificação dinâmica</a:t>
            </a:r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563329"/>
            <a:ext cx="3291840" cy="3352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rPr dirty="0"/>
              <a:t>🏗️ O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Negócio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Produtos estruturais (Vergalhão, Tela e Treliça) operam com margens comprimidas e compradores B2B sensíveis a preço. </a:t>
            </a: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endParaRPr lang="pt-BR" sz="1150" dirty="0">
              <a:solidFill>
                <a:srgbClr val="475569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As tabelas de preços estáticas não acompanham as oscilações diárias dos concorrentes e a sazonalidade de obras.</a:t>
            </a:r>
            <a:br>
              <a:rPr dirty="0"/>
            </a:b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389120" y="1563329"/>
            <a:ext cx="3291840" cy="33528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B91C1C"/>
                </a:solidFill>
              </a:defRPr>
            </a:pPr>
            <a:r>
              <a:rPr dirty="0"/>
              <a:t>❌ </a:t>
            </a:r>
            <a:r>
              <a:rPr dirty="0" err="1"/>
              <a:t>Automação</a:t>
            </a:r>
            <a:r>
              <a:rPr dirty="0"/>
              <a:t> Simples Falha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dirty="0"/>
              <a:t>A validação da regra heurística determinística gerou ganhos limitados (+19,06% na Tela, +18,67% na Treliça e +23,37% no Vergalhão), comprovando que automações simples geram resultados positivos, mas ficam muito aquém do potencial máximo trazido pela otimização não-linear das Redes Neurais.</a:t>
            </a:r>
          </a:p>
          <a:p>
            <a:pPr>
              <a:defRPr sz="1150">
                <a:solidFill>
                  <a:srgbClr val="475569"/>
                </a:solidFill>
              </a:defRPr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dirty="0"/>
              <a:t>Regras fixas dão descontos desnecessários quando a demanda está aquecida no início do mês e perdem cotações críticas no fim.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046720" y="1563329"/>
            <a:ext cx="3383280" cy="3352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047857"/>
                </a:solidFill>
              </a:defRPr>
            </a:pPr>
            <a:r>
              <a:rPr dirty="0"/>
              <a:t>🧠 A </a:t>
            </a:r>
            <a:r>
              <a:rPr dirty="0" err="1"/>
              <a:t>Solução</a:t>
            </a:r>
            <a:r>
              <a:rPr dirty="0"/>
              <a:t> com Rede Neural</a:t>
            </a:r>
            <a:br>
              <a:rPr dirty="0"/>
            </a:br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150">
                <a:solidFill>
                  <a:srgbClr val="475569"/>
                </a:solidFill>
              </a:defRPr>
            </a:pPr>
            <a:r>
              <a:rPr lang="pt-BR" sz="1150" dirty="0">
                <a:solidFill>
                  <a:srgbClr val="475569"/>
                </a:solidFill>
              </a:rPr>
              <a:t>Em vez de usar modelos lineares (que assumem uma elasticidade-preço estática em linha reta), a IA mapeia a </a:t>
            </a:r>
            <a:r>
              <a:rPr lang="pt-BR" sz="1150" b="1" dirty="0">
                <a:solidFill>
                  <a:srgbClr val="475569"/>
                </a:solidFill>
              </a:rPr>
              <a:t>elasticidade não-linear real da curva de demanda</a:t>
            </a:r>
            <a:r>
              <a:rPr lang="pt-BR" sz="1150" dirty="0">
                <a:solidFill>
                  <a:srgbClr val="475569"/>
                </a:solidFill>
              </a:rPr>
              <a:t>, considerando 14 variáveis simultâneas (concorrente, estoque diário e sazonalidade cíclica).</a:t>
            </a:r>
            <a:endParaRPr dirty="0"/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BDF9E011-622D-1115-6001-B68408E73309}"/>
              </a:ext>
            </a:extLst>
          </p:cNvPr>
          <p:cNvSpPr/>
          <p:nvPr/>
        </p:nvSpPr>
        <p:spPr>
          <a:xfrm>
            <a:off x="731519" y="5476568"/>
            <a:ext cx="10698481" cy="558472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600" b="1" dirty="0"/>
              <a:t>Desafio: Capturar cotações cirúrgicas contra o concorrente no início do mês para reter um maior volume de compras das construtoras sem destruir a margem unitária dos materiais e maximizar a receita.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b="1" dirty="0">
                <a:solidFill>
                  <a:srgbClr val="0F172A"/>
                </a:solidFill>
              </a:rPr>
              <a:t>Resultados Técnicos do modelo</a:t>
            </a:r>
            <a:endParaRPr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06988"/>
              </p:ext>
            </p:extLst>
          </p:nvPr>
        </p:nvGraphicFramePr>
        <p:xfrm>
          <a:off x="731520" y="1075614"/>
          <a:ext cx="106984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Produto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lang="pt-BR" dirty="0"/>
                        <a:t>R² - Desvio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MAPE </a:t>
                      </a:r>
                      <a:r>
                        <a:rPr lang="pt-BR" dirty="0"/>
                        <a:t>médio (%)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Receita Histórica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Receita com IA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Ganho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Financeiro</a:t>
                      </a:r>
                      <a:endParaRPr dirty="0"/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Tela de </a:t>
                      </a:r>
                      <a:r>
                        <a:rPr dirty="0" err="1"/>
                        <a:t>Aço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0.96 – 0.02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13,04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3.120.254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5.003.877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1.883.623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Treliça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0.96 – 0.01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12,39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1.369.523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2.010.287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640.764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Vergalhão de Aço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0.97 – 0.01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14,26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2.526.350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4.553.008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pt-BR" dirty="0"/>
                        <a:t>2.026.657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634782"/>
            <a:ext cx="10698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i="1" dirty="0"/>
              <a:t>Nota de ajuste no modelo: o cálculo da demanda foi corrigido, retirando o divisor de escala temporal que estava sendo aplicado de forma errada.</a:t>
            </a:r>
            <a:endParaRPr i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8F795F-D470-172F-A0F8-AAE12134F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62" y="4109548"/>
            <a:ext cx="9891675" cy="25270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6F85-1A1E-F202-69C5-652413C4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B2AF7-7B59-45C4-8A59-608671A36D0F}"/>
              </a:ext>
            </a:extLst>
          </p:cNvPr>
          <p:cNvSpPr txBox="1"/>
          <p:nvPr/>
        </p:nvSpPr>
        <p:spPr>
          <a:xfrm>
            <a:off x="731520" y="4572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rPr lang="pt-BR" sz="2000" dirty="0"/>
              <a:t>Próximos passos</a:t>
            </a:r>
            <a:endParaRPr sz="20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C6237A4-3051-EB65-E414-0C6B68F3C59F}"/>
              </a:ext>
            </a:extLst>
          </p:cNvPr>
          <p:cNvSpPr/>
          <p:nvPr/>
        </p:nvSpPr>
        <p:spPr>
          <a:xfrm>
            <a:off x="731519" y="1645920"/>
            <a:ext cx="10155555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b="1" dirty="0"/>
              <a:t>Utilização da IA para alavanca de Margem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A Rede Neural (MLP) provou-se superior aos modelos lineares e às regras heurísticas puras (Se-Então). Ela não foca apenas em dar descontos automáticos, mas sim em identificar o limite exato da elasticidade-preço para capturar o maior volume de cotações com a melhor margem possível.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 marL="171450" indent="-1714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Alinhamento Estratégico (Gerdau): O projeto demonstrou viabilidade técnica e financeira, considerando uma sugestão de </a:t>
            </a:r>
            <a:r>
              <a:rPr lang="pt-BR" sz="1400" dirty="0" err="1"/>
              <a:t>Capex</a:t>
            </a:r>
            <a:r>
              <a:rPr lang="pt-BR" sz="1400" dirty="0"/>
              <a:t> e </a:t>
            </a:r>
            <a:r>
              <a:rPr lang="pt-BR" sz="1400" dirty="0" err="1"/>
              <a:t>Opex</a:t>
            </a:r>
            <a:r>
              <a:rPr lang="pt-BR" sz="1400" dirty="0"/>
              <a:t> pela IA, que transformando um processo comercial tradicionalmente reativo em uma vantagem competitiva preditiva e ágil gera grande valor. Ainda sim não conseguimos calcular com precisão o ROI por se tratar de dados fictícios.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400" dirty="0"/>
          </a:p>
          <a:p>
            <a:pPr>
              <a:defRPr sz="1100">
                <a:solidFill>
                  <a:srgbClr val="475569"/>
                </a:solidFill>
              </a:defRPr>
            </a:pPr>
            <a:r>
              <a:rPr lang="pt-BR" sz="1400" b="1" dirty="0"/>
              <a:t>Escalada e  implementação do modelo: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endParaRPr lang="pt-BR" sz="1400" b="1" dirty="0"/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Fase 1 (Piloto): Iniciar um teste em lote (Batch </a:t>
            </a:r>
            <a:r>
              <a:rPr lang="pt-BR" sz="1400" dirty="0" err="1"/>
              <a:t>Scoring</a:t>
            </a:r>
            <a:r>
              <a:rPr lang="pt-BR" sz="1400" dirty="0"/>
              <a:t>) de 30 dias restrito a apenas uma filial ou carteira específica de clientes B2B para Vergalhão.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Fase 2 (Monitoramento): Avaliar diariamente o comportamento da margem incremental e da taxa de conversão contra o grupo de controle (vendedores usando a tabela tradicional).</a:t>
            </a:r>
          </a:p>
          <a:p>
            <a:pPr marL="285750" indent="-285750">
              <a:buFont typeface="Arial" panose="020B0604020202020204" pitchFamily="34" charset="0"/>
              <a:buChar char="•"/>
              <a:defRPr sz="1100">
                <a:solidFill>
                  <a:srgbClr val="475569"/>
                </a:solidFill>
              </a:defRPr>
            </a:pPr>
            <a:r>
              <a:rPr lang="pt-BR" sz="1400" dirty="0"/>
              <a:t>Fase 3 (</a:t>
            </a:r>
            <a:r>
              <a:rPr lang="pt-BR" sz="1400" dirty="0" err="1"/>
              <a:t>Rollout</a:t>
            </a:r>
            <a:r>
              <a:rPr lang="pt-BR" sz="1400" dirty="0"/>
              <a:t>): Integração total do pipeline de </a:t>
            </a:r>
            <a:r>
              <a:rPr lang="pt-BR" sz="1400" dirty="0" err="1"/>
              <a:t>MLOps</a:t>
            </a:r>
            <a:r>
              <a:rPr lang="pt-BR" sz="1400" dirty="0"/>
              <a:t> automatizado no ERP SAP para o portfólio completo após a validação do piloto.</a:t>
            </a:r>
            <a:br>
              <a:rPr lang="pt-BR" sz="1400" dirty="0"/>
            </a:b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6292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498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Aryadne Meira Fernandes</cp:lastModifiedBy>
  <cp:revision>5</cp:revision>
  <dcterms:created xsi:type="dcterms:W3CDTF">2013-01-27T09:14:16Z</dcterms:created>
  <dcterms:modified xsi:type="dcterms:W3CDTF">2026-09-14T23:18:42Z</dcterms:modified>
  <cp:category/>
</cp:coreProperties>
</file>